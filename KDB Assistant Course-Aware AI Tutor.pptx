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Poppins Semi-Bold" charset="1" panose="00000700000000000000"/>
      <p:regular r:id="rId14"/>
    </p:embeddedFont>
    <p:embeddedFont>
      <p:font typeface="Poppins Bold" charset="1" panose="00000800000000000000"/>
      <p:regular r:id="rId15"/>
    </p:embeddedFont>
    <p:embeddedFont>
      <p:font typeface="Poppins" charset="1" panose="0000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8.jpe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8.jpeg" Type="http://schemas.openxmlformats.org/officeDocument/2006/relationships/image"/><Relationship Id="rId5" Target="../media/image19.jpe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1.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0">
            <a:off x="4636484" y="6742720"/>
            <a:ext cx="13651516" cy="3544280"/>
            <a:chOff x="0" y="0"/>
            <a:chExt cx="18202021" cy="4725707"/>
          </a:xfrm>
        </p:grpSpPr>
        <p:pic>
          <p:nvPicPr>
            <p:cNvPr name="Picture 3" id="3"/>
            <p:cNvPicPr>
              <a:picLocks noChangeAspect="true"/>
            </p:cNvPicPr>
            <p:nvPr/>
          </p:nvPicPr>
          <p:blipFill>
            <a:blip r:embed="rId2"/>
            <a:srcRect l="0" t="27225" r="0" b="27225"/>
            <a:stretch>
              <a:fillRect/>
            </a:stretch>
          </p:blipFill>
          <p:spPr>
            <a:xfrm flipH="false" flipV="false">
              <a:off x="0" y="0"/>
              <a:ext cx="18202021" cy="4725707"/>
            </a:xfrm>
            <a:prstGeom prst="rect">
              <a:avLst/>
            </a:prstGeom>
          </p:spPr>
        </p:pic>
      </p:grpSp>
      <p:grpSp>
        <p:nvGrpSpPr>
          <p:cNvPr name="Group 4" id="4"/>
          <p:cNvGrpSpPr/>
          <p:nvPr/>
        </p:nvGrpSpPr>
        <p:grpSpPr>
          <a:xfrm rot="0">
            <a:off x="12032974" y="1828528"/>
            <a:ext cx="5226326" cy="6123969"/>
            <a:chOff x="0" y="0"/>
            <a:chExt cx="6968435" cy="8165292"/>
          </a:xfrm>
        </p:grpSpPr>
        <p:pic>
          <p:nvPicPr>
            <p:cNvPr name="Picture 5" id="5"/>
            <p:cNvPicPr>
              <a:picLocks noChangeAspect="true"/>
            </p:cNvPicPr>
            <p:nvPr/>
          </p:nvPicPr>
          <p:blipFill>
            <a:blip r:embed="rId3"/>
            <a:srcRect l="0" t="2617" r="0" b="2617"/>
            <a:stretch>
              <a:fillRect/>
            </a:stretch>
          </p:blipFill>
          <p:spPr>
            <a:xfrm flipH="false" flipV="false">
              <a:off x="0" y="0"/>
              <a:ext cx="6968435" cy="8165292"/>
            </a:xfrm>
            <a:prstGeom prst="rect">
              <a:avLst/>
            </a:prstGeom>
          </p:spPr>
        </p:pic>
      </p:grpSp>
      <p:sp>
        <p:nvSpPr>
          <p:cNvPr name="AutoShape 6" id="6"/>
          <p:cNvSpPr/>
          <p:nvPr/>
        </p:nvSpPr>
        <p:spPr>
          <a:xfrm>
            <a:off x="2111175" y="0"/>
            <a:ext cx="0" cy="10287000"/>
          </a:xfrm>
          <a:prstGeom prst="line">
            <a:avLst/>
          </a:prstGeom>
          <a:ln cap="flat" w="19050">
            <a:solidFill>
              <a:srgbClr val="3E3E3E"/>
            </a:solidFill>
            <a:prstDash val="solid"/>
            <a:headEnd type="none" len="sm" w="sm"/>
            <a:tailEnd type="none" len="sm" w="sm"/>
          </a:ln>
        </p:spPr>
      </p:sp>
      <p:sp>
        <p:nvSpPr>
          <p:cNvPr name="Freeform 7" id="7"/>
          <p:cNvSpPr/>
          <p:nvPr/>
        </p:nvSpPr>
        <p:spPr>
          <a:xfrm flipH="false" flipV="false" rot="-2700000">
            <a:off x="3125623" y="8262697"/>
            <a:ext cx="502015" cy="502015"/>
          </a:xfrm>
          <a:custGeom>
            <a:avLst/>
            <a:gdLst/>
            <a:ahLst/>
            <a:cxnLst/>
            <a:rect r="r" b="b" t="t" l="l"/>
            <a:pathLst>
              <a:path h="502015" w="502015">
                <a:moveTo>
                  <a:pt x="0" y="0"/>
                </a:moveTo>
                <a:lnTo>
                  <a:pt x="502015" y="0"/>
                </a:lnTo>
                <a:lnTo>
                  <a:pt x="502015" y="502016"/>
                </a:lnTo>
                <a:lnTo>
                  <a:pt x="0" y="5020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0269049" y="0"/>
            <a:ext cx="2386387" cy="1028700"/>
            <a:chOff x="0" y="0"/>
            <a:chExt cx="628513" cy="270933"/>
          </a:xfrm>
        </p:grpSpPr>
        <p:sp>
          <p:nvSpPr>
            <p:cNvPr name="Freeform 9" id="9"/>
            <p:cNvSpPr/>
            <p:nvPr/>
          </p:nvSpPr>
          <p:spPr>
            <a:xfrm flipH="false" flipV="false" rot="0">
              <a:off x="0" y="0"/>
              <a:ext cx="628513" cy="270933"/>
            </a:xfrm>
            <a:custGeom>
              <a:avLst/>
              <a:gdLst/>
              <a:ahLst/>
              <a:cxnLst/>
              <a:rect r="r" b="b" t="t" l="l"/>
              <a:pathLst>
                <a:path h="270933" w="628513">
                  <a:moveTo>
                    <a:pt x="0" y="0"/>
                  </a:moveTo>
                  <a:lnTo>
                    <a:pt x="628513" y="0"/>
                  </a:lnTo>
                  <a:lnTo>
                    <a:pt x="628513" y="270933"/>
                  </a:lnTo>
                  <a:lnTo>
                    <a:pt x="0" y="270933"/>
                  </a:lnTo>
                  <a:close/>
                </a:path>
              </a:pathLst>
            </a:custGeom>
            <a:solidFill>
              <a:srgbClr val="FEFEFE"/>
            </a:solidFill>
          </p:spPr>
        </p:sp>
        <p:sp>
          <p:nvSpPr>
            <p:cNvPr name="TextBox 10" id="10"/>
            <p:cNvSpPr txBox="true"/>
            <p:nvPr/>
          </p:nvSpPr>
          <p:spPr>
            <a:xfrm>
              <a:off x="0" y="-9525"/>
              <a:ext cx="628513" cy="280458"/>
            </a:xfrm>
            <a:prstGeom prst="rect">
              <a:avLst/>
            </a:prstGeom>
          </p:spPr>
          <p:txBody>
            <a:bodyPr anchor="ctr" rtlCol="false" tIns="50800" lIns="50800" bIns="50800" rIns="50800"/>
            <a:lstStyle/>
            <a:p>
              <a:pPr algn="ctr" marL="0" indent="0" lvl="0">
                <a:lnSpc>
                  <a:spcPts val="1524"/>
                </a:lnSpc>
              </a:pPr>
            </a:p>
          </p:txBody>
        </p:sp>
      </p:grpSp>
      <p:sp>
        <p:nvSpPr>
          <p:cNvPr name="Freeform 11" id="11"/>
          <p:cNvSpPr/>
          <p:nvPr/>
        </p:nvSpPr>
        <p:spPr>
          <a:xfrm flipH="false" flipV="false" rot="0">
            <a:off x="7543339" y="1438214"/>
            <a:ext cx="582302" cy="239937"/>
          </a:xfrm>
          <a:custGeom>
            <a:avLst/>
            <a:gdLst/>
            <a:ahLst/>
            <a:cxnLst/>
            <a:rect r="r" b="b" t="t" l="l"/>
            <a:pathLst>
              <a:path h="239937" w="582302">
                <a:moveTo>
                  <a:pt x="0" y="0"/>
                </a:moveTo>
                <a:lnTo>
                  <a:pt x="582303" y="0"/>
                </a:lnTo>
                <a:lnTo>
                  <a:pt x="582303" y="239937"/>
                </a:lnTo>
                <a:lnTo>
                  <a:pt x="0" y="239937"/>
                </a:lnTo>
                <a:lnTo>
                  <a:pt x="0" y="0"/>
                </a:lnTo>
                <a:close/>
              </a:path>
            </a:pathLst>
          </a:custGeom>
          <a:blipFill>
            <a:blip r:embed="rId6">
              <a:extLst>
                <a:ext uri="{96DAC541-7B7A-43D3-8B79-37D633B846F1}">
                  <asvg:svgBlip xmlns:asvg="http://schemas.microsoft.com/office/drawing/2016/SVG/main" r:embed="rId7"/>
                </a:ext>
              </a:extLst>
            </a:blip>
            <a:stretch>
              <a:fillRect l="0" t="0" r="-116511" b="-425452"/>
            </a:stretch>
          </a:blipFill>
        </p:spPr>
      </p:sp>
      <p:sp>
        <p:nvSpPr>
          <p:cNvPr name="TextBox 12" id="12"/>
          <p:cNvSpPr txBox="true"/>
          <p:nvPr/>
        </p:nvSpPr>
        <p:spPr>
          <a:xfrm rot="0">
            <a:off x="3187465" y="1530078"/>
            <a:ext cx="2415122" cy="311150"/>
          </a:xfrm>
          <a:prstGeom prst="rect">
            <a:avLst/>
          </a:prstGeom>
        </p:spPr>
        <p:txBody>
          <a:bodyPr anchor="t" rtlCol="false" tIns="0" lIns="0" bIns="0" rIns="0">
            <a:spAutoFit/>
          </a:bodyPr>
          <a:lstStyle/>
          <a:p>
            <a:pPr algn="l" marL="0" indent="0" lvl="0">
              <a:lnSpc>
                <a:spcPts val="2200"/>
              </a:lnSpc>
            </a:pPr>
            <a:r>
              <a:rPr lang="en-US" b="true" sz="2000">
                <a:solidFill>
                  <a:srgbClr val="3E3E3E"/>
                </a:solidFill>
                <a:latin typeface="Poppins Semi-Bold"/>
                <a:ea typeface="Poppins Semi-Bold"/>
                <a:cs typeface="Poppins Semi-Bold"/>
                <a:sym typeface="Poppins Semi-Bold"/>
              </a:rPr>
              <a:t>INNOVATION FAIR</a:t>
            </a:r>
          </a:p>
        </p:txBody>
      </p:sp>
      <p:sp>
        <p:nvSpPr>
          <p:cNvPr name="TextBox 13" id="13"/>
          <p:cNvSpPr txBox="true"/>
          <p:nvPr/>
        </p:nvSpPr>
        <p:spPr>
          <a:xfrm rot="0">
            <a:off x="3187465" y="2884527"/>
            <a:ext cx="7778709" cy="2985480"/>
          </a:xfrm>
          <a:prstGeom prst="rect">
            <a:avLst/>
          </a:prstGeom>
        </p:spPr>
        <p:txBody>
          <a:bodyPr anchor="t" rtlCol="false" tIns="0" lIns="0" bIns="0" rIns="0">
            <a:spAutoFit/>
          </a:bodyPr>
          <a:lstStyle/>
          <a:p>
            <a:pPr algn="l" marL="0" indent="0" lvl="0">
              <a:lnSpc>
                <a:spcPts val="11038"/>
              </a:lnSpc>
            </a:pPr>
            <a:r>
              <a:rPr lang="en-US" b="true" sz="11038">
                <a:solidFill>
                  <a:srgbClr val="834630"/>
                </a:solidFill>
                <a:latin typeface="Poppins Bold"/>
                <a:ea typeface="Poppins Bold"/>
                <a:cs typeface="Poppins Bold"/>
                <a:sym typeface="Poppins Bold"/>
              </a:rPr>
              <a:t>KDB ASSISTANT</a:t>
            </a:r>
          </a:p>
        </p:txBody>
      </p:sp>
      <p:sp>
        <p:nvSpPr>
          <p:cNvPr name="TextBox 14" id="14"/>
          <p:cNvSpPr txBox="true"/>
          <p:nvPr/>
        </p:nvSpPr>
        <p:spPr>
          <a:xfrm rot="0">
            <a:off x="14190426" y="1019175"/>
            <a:ext cx="3068087" cy="217627"/>
          </a:xfrm>
          <a:prstGeom prst="rect">
            <a:avLst/>
          </a:prstGeom>
        </p:spPr>
        <p:txBody>
          <a:bodyPr anchor="t" rtlCol="false" tIns="0" lIns="0" bIns="0" rIns="0">
            <a:spAutoFit/>
          </a:bodyPr>
          <a:lstStyle/>
          <a:p>
            <a:pPr algn="r" marL="0" indent="0" lvl="0">
              <a:lnSpc>
                <a:spcPts val="1524"/>
              </a:lnSpc>
            </a:pPr>
            <a:r>
              <a:rPr lang="en-US" b="true" sz="1385">
                <a:solidFill>
                  <a:srgbClr val="3E3E3E"/>
                </a:solidFill>
                <a:latin typeface="Poppins Semi-Bold"/>
                <a:ea typeface="Poppins Semi-Bold"/>
                <a:cs typeface="Poppins Semi-Bold"/>
                <a:sym typeface="Poppins Semi-Bold"/>
              </a:rPr>
              <a:t>TEAM KDB |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AutoShape 2" id="2"/>
          <p:cNvSpPr/>
          <p:nvPr/>
        </p:nvSpPr>
        <p:spPr>
          <a:xfrm>
            <a:off x="2111175" y="0"/>
            <a:ext cx="0" cy="10287000"/>
          </a:xfrm>
          <a:prstGeom prst="line">
            <a:avLst/>
          </a:prstGeom>
          <a:ln cap="flat" w="19050">
            <a:solidFill>
              <a:srgbClr val="3E3E3E"/>
            </a:solidFill>
            <a:prstDash val="solid"/>
            <a:headEnd type="none" len="sm" w="sm"/>
            <a:tailEnd type="none" len="sm" w="sm"/>
          </a:ln>
        </p:spPr>
      </p:sp>
      <p:grpSp>
        <p:nvGrpSpPr>
          <p:cNvPr name="Group 3" id="3"/>
          <p:cNvGrpSpPr/>
          <p:nvPr/>
        </p:nvGrpSpPr>
        <p:grpSpPr>
          <a:xfrm rot="0">
            <a:off x="9105900" y="1028700"/>
            <a:ext cx="8153400" cy="2768195"/>
            <a:chOff x="0" y="0"/>
            <a:chExt cx="10871200" cy="3690927"/>
          </a:xfrm>
        </p:grpSpPr>
        <p:pic>
          <p:nvPicPr>
            <p:cNvPr name="Picture 4" id="4"/>
            <p:cNvPicPr>
              <a:picLocks noChangeAspect="true"/>
            </p:cNvPicPr>
            <p:nvPr/>
          </p:nvPicPr>
          <p:blipFill>
            <a:blip r:embed="rId2"/>
            <a:srcRect l="0" t="20218" r="0" b="20218"/>
            <a:stretch>
              <a:fillRect/>
            </a:stretch>
          </p:blipFill>
          <p:spPr>
            <a:xfrm flipH="false" flipV="false">
              <a:off x="0" y="0"/>
              <a:ext cx="10871200" cy="3690927"/>
            </a:xfrm>
            <a:prstGeom prst="rect">
              <a:avLst/>
            </a:prstGeom>
          </p:spPr>
        </p:pic>
      </p:grpSp>
      <p:sp>
        <p:nvSpPr>
          <p:cNvPr name="Freeform 5" id="5"/>
          <p:cNvSpPr/>
          <p:nvPr/>
        </p:nvSpPr>
        <p:spPr>
          <a:xfrm flipH="false" flipV="false" rot="-2700000">
            <a:off x="3192298" y="6652880"/>
            <a:ext cx="502015" cy="502015"/>
          </a:xfrm>
          <a:custGeom>
            <a:avLst/>
            <a:gdLst/>
            <a:ahLst/>
            <a:cxnLst/>
            <a:rect r="r" b="b" t="t" l="l"/>
            <a:pathLst>
              <a:path h="502015" w="502015">
                <a:moveTo>
                  <a:pt x="0" y="0"/>
                </a:moveTo>
                <a:lnTo>
                  <a:pt x="502015" y="0"/>
                </a:lnTo>
                <a:lnTo>
                  <a:pt x="502015" y="502015"/>
                </a:lnTo>
                <a:lnTo>
                  <a:pt x="0" y="5020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4081519" y="0"/>
            <a:ext cx="4206481" cy="1660593"/>
            <a:chOff x="0" y="0"/>
            <a:chExt cx="1107880" cy="437358"/>
          </a:xfrm>
        </p:grpSpPr>
        <p:sp>
          <p:nvSpPr>
            <p:cNvPr name="Freeform 7" id="7"/>
            <p:cNvSpPr/>
            <p:nvPr/>
          </p:nvSpPr>
          <p:spPr>
            <a:xfrm flipH="false" flipV="false" rot="0">
              <a:off x="0" y="0"/>
              <a:ext cx="1107880" cy="437358"/>
            </a:xfrm>
            <a:custGeom>
              <a:avLst/>
              <a:gdLst/>
              <a:ahLst/>
              <a:cxnLst/>
              <a:rect r="r" b="b" t="t" l="l"/>
              <a:pathLst>
                <a:path h="437358" w="1107880">
                  <a:moveTo>
                    <a:pt x="0" y="0"/>
                  </a:moveTo>
                  <a:lnTo>
                    <a:pt x="1107880" y="0"/>
                  </a:lnTo>
                  <a:lnTo>
                    <a:pt x="1107880" y="437358"/>
                  </a:lnTo>
                  <a:lnTo>
                    <a:pt x="0" y="437358"/>
                  </a:lnTo>
                  <a:close/>
                </a:path>
              </a:pathLst>
            </a:custGeom>
            <a:solidFill>
              <a:srgbClr val="FEFEFE"/>
            </a:solidFill>
          </p:spPr>
        </p:sp>
        <p:sp>
          <p:nvSpPr>
            <p:cNvPr name="TextBox 8" id="8"/>
            <p:cNvSpPr txBox="true"/>
            <p:nvPr/>
          </p:nvSpPr>
          <p:spPr>
            <a:xfrm>
              <a:off x="0" y="-9525"/>
              <a:ext cx="1107880" cy="446883"/>
            </a:xfrm>
            <a:prstGeom prst="rect">
              <a:avLst/>
            </a:prstGeom>
          </p:spPr>
          <p:txBody>
            <a:bodyPr anchor="ctr" rtlCol="false" tIns="50800" lIns="50800" bIns="50800" rIns="50800"/>
            <a:lstStyle/>
            <a:p>
              <a:pPr algn="ctr" marL="0" indent="0" lvl="0">
                <a:lnSpc>
                  <a:spcPts val="1524"/>
                </a:lnSpc>
              </a:pPr>
            </a:p>
          </p:txBody>
        </p:sp>
      </p:grpSp>
      <p:grpSp>
        <p:nvGrpSpPr>
          <p:cNvPr name="Group 9" id="9"/>
          <p:cNvGrpSpPr/>
          <p:nvPr/>
        </p:nvGrpSpPr>
        <p:grpSpPr>
          <a:xfrm rot="0">
            <a:off x="11623736" y="5089449"/>
            <a:ext cx="5635564" cy="3906114"/>
            <a:chOff x="0" y="0"/>
            <a:chExt cx="7514086" cy="5208153"/>
          </a:xfrm>
        </p:grpSpPr>
        <p:pic>
          <p:nvPicPr>
            <p:cNvPr name="Picture 10" id="10"/>
            <p:cNvPicPr>
              <a:picLocks noChangeAspect="true"/>
            </p:cNvPicPr>
            <p:nvPr/>
          </p:nvPicPr>
          <p:blipFill>
            <a:blip r:embed="rId5"/>
            <a:srcRect l="1397" t="0" r="1397" b="0"/>
            <a:stretch>
              <a:fillRect/>
            </a:stretch>
          </p:blipFill>
          <p:spPr>
            <a:xfrm flipH="false" flipV="false">
              <a:off x="0" y="0"/>
              <a:ext cx="7514086" cy="5208153"/>
            </a:xfrm>
            <a:prstGeom prst="rect">
              <a:avLst/>
            </a:prstGeom>
          </p:spPr>
        </p:pic>
      </p:grpSp>
      <p:sp>
        <p:nvSpPr>
          <p:cNvPr name="Freeform 11" id="11"/>
          <p:cNvSpPr/>
          <p:nvPr/>
        </p:nvSpPr>
        <p:spPr>
          <a:xfrm flipH="false" flipV="false" rot="0">
            <a:off x="9686746" y="6558434"/>
            <a:ext cx="582302" cy="239937"/>
          </a:xfrm>
          <a:custGeom>
            <a:avLst/>
            <a:gdLst/>
            <a:ahLst/>
            <a:cxnLst/>
            <a:rect r="r" b="b" t="t" l="l"/>
            <a:pathLst>
              <a:path h="239937" w="582302">
                <a:moveTo>
                  <a:pt x="0" y="0"/>
                </a:moveTo>
                <a:lnTo>
                  <a:pt x="582303" y="0"/>
                </a:lnTo>
                <a:lnTo>
                  <a:pt x="582303" y="239937"/>
                </a:lnTo>
                <a:lnTo>
                  <a:pt x="0" y="239937"/>
                </a:lnTo>
                <a:lnTo>
                  <a:pt x="0" y="0"/>
                </a:lnTo>
                <a:close/>
              </a:path>
            </a:pathLst>
          </a:custGeom>
          <a:blipFill>
            <a:blip r:embed="rId6">
              <a:extLst>
                <a:ext uri="{96DAC541-7B7A-43D3-8B79-37D633B846F1}">
                  <asvg:svgBlip xmlns:asvg="http://schemas.microsoft.com/office/drawing/2016/SVG/main" r:embed="rId7"/>
                </a:ext>
              </a:extLst>
            </a:blip>
            <a:stretch>
              <a:fillRect l="0" t="0" r="-116511" b="-425452"/>
            </a:stretch>
          </a:blipFill>
        </p:spPr>
      </p:sp>
      <p:sp>
        <p:nvSpPr>
          <p:cNvPr name="TextBox 12" id="12"/>
          <p:cNvSpPr txBox="true"/>
          <p:nvPr/>
        </p:nvSpPr>
        <p:spPr>
          <a:xfrm rot="0">
            <a:off x="3187465" y="1539603"/>
            <a:ext cx="2415122" cy="537738"/>
          </a:xfrm>
          <a:prstGeom prst="rect">
            <a:avLst/>
          </a:prstGeom>
        </p:spPr>
        <p:txBody>
          <a:bodyPr anchor="t" rtlCol="false" tIns="0" lIns="0" bIns="0" rIns="0">
            <a:spAutoFit/>
          </a:bodyPr>
          <a:lstStyle/>
          <a:p>
            <a:pPr algn="l" marL="0" indent="0" lvl="0">
              <a:lnSpc>
                <a:spcPts val="2025"/>
              </a:lnSpc>
            </a:pPr>
            <a:r>
              <a:rPr lang="en-US" b="true" sz="1841">
                <a:solidFill>
                  <a:srgbClr val="3E3E3E"/>
                </a:solidFill>
                <a:latin typeface="Poppins Semi-Bold"/>
                <a:ea typeface="Poppins Semi-Bold"/>
                <a:cs typeface="Poppins Semi-Bold"/>
                <a:sym typeface="Poppins Semi-Bold"/>
              </a:rPr>
              <a:t>THE CHALLENGE IN ACADEMIC SUPPORT</a:t>
            </a:r>
          </a:p>
        </p:txBody>
      </p:sp>
      <p:sp>
        <p:nvSpPr>
          <p:cNvPr name="TextBox 13" id="13"/>
          <p:cNvSpPr txBox="true"/>
          <p:nvPr/>
        </p:nvSpPr>
        <p:spPr>
          <a:xfrm rot="0">
            <a:off x="3187465" y="2865477"/>
            <a:ext cx="6391910" cy="2821180"/>
          </a:xfrm>
          <a:prstGeom prst="rect">
            <a:avLst/>
          </a:prstGeom>
        </p:spPr>
        <p:txBody>
          <a:bodyPr anchor="t" rtlCol="false" tIns="0" lIns="0" bIns="0" rIns="0">
            <a:spAutoFit/>
          </a:bodyPr>
          <a:lstStyle/>
          <a:p>
            <a:pPr algn="l" marL="0" indent="0" lvl="0">
              <a:lnSpc>
                <a:spcPts val="7195"/>
              </a:lnSpc>
            </a:pPr>
            <a:r>
              <a:rPr lang="en-US" b="true" sz="7195">
                <a:solidFill>
                  <a:srgbClr val="834630"/>
                </a:solidFill>
                <a:latin typeface="Poppins Bold"/>
                <a:ea typeface="Poppins Bold"/>
                <a:cs typeface="Poppins Bold"/>
                <a:sym typeface="Poppins Bold"/>
              </a:rPr>
              <a:t>WHAT PROBLEM ARE WE SOLVING?</a:t>
            </a:r>
          </a:p>
        </p:txBody>
      </p:sp>
      <p:sp>
        <p:nvSpPr>
          <p:cNvPr name="TextBox 14" id="14"/>
          <p:cNvSpPr txBox="true"/>
          <p:nvPr/>
        </p:nvSpPr>
        <p:spPr>
          <a:xfrm rot="0">
            <a:off x="3187465" y="7810020"/>
            <a:ext cx="7081584" cy="1434355"/>
          </a:xfrm>
          <a:prstGeom prst="rect">
            <a:avLst/>
          </a:prstGeom>
        </p:spPr>
        <p:txBody>
          <a:bodyPr anchor="t" rtlCol="false" tIns="0" lIns="0" bIns="0" rIns="0">
            <a:spAutoFit/>
          </a:bodyPr>
          <a:lstStyle/>
          <a:p>
            <a:pPr algn="just" marL="0" indent="0" lvl="0">
              <a:lnSpc>
                <a:spcPts val="2316"/>
              </a:lnSpc>
            </a:pPr>
            <a:r>
              <a:rPr lang="en-US" sz="1654">
                <a:solidFill>
                  <a:srgbClr val="000000"/>
                </a:solidFill>
                <a:latin typeface="Poppins"/>
                <a:ea typeface="Poppins"/>
                <a:cs typeface="Poppins"/>
                <a:sym typeface="Poppins"/>
              </a:rPr>
              <a:t>Manual grading is time-consuming and difficult to scale across large courses. Feedback quality varies significantly with instructor workload and time pressure. Students need academic help outside office hours when support is unavailable. Generic AI tools lack alignment with specific course content and learning objectives.</a:t>
            </a:r>
          </a:p>
        </p:txBody>
      </p:sp>
      <p:sp>
        <p:nvSpPr>
          <p:cNvPr name="TextBox 15" id="15"/>
          <p:cNvSpPr txBox="true"/>
          <p:nvPr/>
        </p:nvSpPr>
        <p:spPr>
          <a:xfrm rot="0">
            <a:off x="3187465" y="7491884"/>
            <a:ext cx="4596023" cy="249649"/>
          </a:xfrm>
          <a:prstGeom prst="rect">
            <a:avLst/>
          </a:prstGeom>
        </p:spPr>
        <p:txBody>
          <a:bodyPr anchor="t" rtlCol="false" tIns="0" lIns="0" bIns="0" rIns="0">
            <a:spAutoFit/>
          </a:bodyPr>
          <a:lstStyle/>
          <a:p>
            <a:pPr algn="l" marL="0" indent="0" lvl="0">
              <a:lnSpc>
                <a:spcPts val="1823"/>
              </a:lnSpc>
            </a:pPr>
            <a:r>
              <a:rPr lang="en-US" b="true" sz="1657">
                <a:solidFill>
                  <a:srgbClr val="3E3E3E"/>
                </a:solidFill>
                <a:latin typeface="Poppins Semi-Bold"/>
                <a:ea typeface="Poppins Semi-Bold"/>
                <a:cs typeface="Poppins Semi-Bold"/>
                <a:sym typeface="Poppins Semi-Bold"/>
              </a:rPr>
              <a:t>KEY CHALLENGES IN UNIVERSITY EDUCATION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AutoShape 2" id="2"/>
          <p:cNvSpPr/>
          <p:nvPr/>
        </p:nvSpPr>
        <p:spPr>
          <a:xfrm>
            <a:off x="2111175" y="0"/>
            <a:ext cx="0" cy="10287000"/>
          </a:xfrm>
          <a:prstGeom prst="line">
            <a:avLst/>
          </a:prstGeom>
          <a:ln cap="flat" w="19050">
            <a:solidFill>
              <a:srgbClr val="3E3E3E"/>
            </a:solidFill>
            <a:prstDash val="solid"/>
            <a:headEnd type="none" len="sm" w="sm"/>
            <a:tailEnd type="none" len="sm" w="sm"/>
          </a:ln>
        </p:spPr>
      </p:sp>
      <p:sp>
        <p:nvSpPr>
          <p:cNvPr name="Freeform 3" id="3"/>
          <p:cNvSpPr/>
          <p:nvPr/>
        </p:nvSpPr>
        <p:spPr>
          <a:xfrm flipH="false" flipV="false" rot="-2700000">
            <a:off x="3192298" y="6652880"/>
            <a:ext cx="502015" cy="502015"/>
          </a:xfrm>
          <a:custGeom>
            <a:avLst/>
            <a:gdLst/>
            <a:ahLst/>
            <a:cxnLst/>
            <a:rect r="r" b="b" t="t" l="l"/>
            <a:pathLst>
              <a:path h="502015" w="502015">
                <a:moveTo>
                  <a:pt x="0" y="0"/>
                </a:moveTo>
                <a:lnTo>
                  <a:pt x="502015" y="0"/>
                </a:lnTo>
                <a:lnTo>
                  <a:pt x="502015" y="502015"/>
                </a:lnTo>
                <a:lnTo>
                  <a:pt x="0" y="5020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4764170" y="5477236"/>
            <a:ext cx="4692482" cy="3518328"/>
            <a:chOff x="0" y="0"/>
            <a:chExt cx="6256643" cy="4691104"/>
          </a:xfrm>
        </p:grpSpPr>
        <p:pic>
          <p:nvPicPr>
            <p:cNvPr name="Picture 5" id="5"/>
            <p:cNvPicPr>
              <a:picLocks noChangeAspect="true"/>
            </p:cNvPicPr>
            <p:nvPr/>
          </p:nvPicPr>
          <p:blipFill>
            <a:blip r:embed="rId4"/>
            <a:srcRect l="235" t="0" r="235" b="0"/>
            <a:stretch>
              <a:fillRect/>
            </a:stretch>
          </p:blipFill>
          <p:spPr>
            <a:xfrm flipH="false" flipV="false">
              <a:off x="0" y="0"/>
              <a:ext cx="6256643" cy="4691104"/>
            </a:xfrm>
            <a:prstGeom prst="rect">
              <a:avLst/>
            </a:prstGeom>
          </p:spPr>
        </p:pic>
      </p:grpSp>
      <p:grpSp>
        <p:nvGrpSpPr>
          <p:cNvPr name="Group 6" id="6"/>
          <p:cNvGrpSpPr/>
          <p:nvPr/>
        </p:nvGrpSpPr>
        <p:grpSpPr>
          <a:xfrm rot="0">
            <a:off x="10769787" y="1828528"/>
            <a:ext cx="6489513" cy="2972433"/>
            <a:chOff x="0" y="0"/>
            <a:chExt cx="8652684" cy="3963244"/>
          </a:xfrm>
        </p:grpSpPr>
        <p:pic>
          <p:nvPicPr>
            <p:cNvPr name="Picture 7" id="7"/>
            <p:cNvPicPr>
              <a:picLocks noChangeAspect="true"/>
            </p:cNvPicPr>
            <p:nvPr/>
          </p:nvPicPr>
          <p:blipFill>
            <a:blip r:embed="rId5"/>
            <a:srcRect l="0" t="9821" r="0" b="9821"/>
            <a:stretch>
              <a:fillRect/>
            </a:stretch>
          </p:blipFill>
          <p:spPr>
            <a:xfrm flipH="false" flipV="false">
              <a:off x="0" y="0"/>
              <a:ext cx="8652684" cy="3963244"/>
            </a:xfrm>
            <a:prstGeom prst="rect">
              <a:avLst/>
            </a:prstGeom>
          </p:spPr>
        </p:pic>
      </p:grpSp>
      <p:grpSp>
        <p:nvGrpSpPr>
          <p:cNvPr name="Group 8" id="8"/>
          <p:cNvGrpSpPr/>
          <p:nvPr/>
        </p:nvGrpSpPr>
        <p:grpSpPr>
          <a:xfrm rot="0">
            <a:off x="7070265" y="0"/>
            <a:ext cx="2386387" cy="1028700"/>
            <a:chOff x="0" y="0"/>
            <a:chExt cx="628513" cy="270933"/>
          </a:xfrm>
        </p:grpSpPr>
        <p:sp>
          <p:nvSpPr>
            <p:cNvPr name="Freeform 9" id="9"/>
            <p:cNvSpPr/>
            <p:nvPr/>
          </p:nvSpPr>
          <p:spPr>
            <a:xfrm flipH="false" flipV="false" rot="0">
              <a:off x="0" y="0"/>
              <a:ext cx="628513" cy="270933"/>
            </a:xfrm>
            <a:custGeom>
              <a:avLst/>
              <a:gdLst/>
              <a:ahLst/>
              <a:cxnLst/>
              <a:rect r="r" b="b" t="t" l="l"/>
              <a:pathLst>
                <a:path h="270933" w="628513">
                  <a:moveTo>
                    <a:pt x="0" y="0"/>
                  </a:moveTo>
                  <a:lnTo>
                    <a:pt x="628513" y="0"/>
                  </a:lnTo>
                  <a:lnTo>
                    <a:pt x="628513" y="270933"/>
                  </a:lnTo>
                  <a:lnTo>
                    <a:pt x="0" y="270933"/>
                  </a:lnTo>
                  <a:close/>
                </a:path>
              </a:pathLst>
            </a:custGeom>
            <a:solidFill>
              <a:srgbClr val="FEFEFE"/>
            </a:solidFill>
          </p:spPr>
        </p:sp>
        <p:sp>
          <p:nvSpPr>
            <p:cNvPr name="TextBox 10" id="10"/>
            <p:cNvSpPr txBox="true"/>
            <p:nvPr/>
          </p:nvSpPr>
          <p:spPr>
            <a:xfrm>
              <a:off x="0" y="-9525"/>
              <a:ext cx="628513" cy="280458"/>
            </a:xfrm>
            <a:prstGeom prst="rect">
              <a:avLst/>
            </a:prstGeom>
          </p:spPr>
          <p:txBody>
            <a:bodyPr anchor="ctr" rtlCol="false" tIns="50800" lIns="50800" bIns="50800" rIns="50800"/>
            <a:lstStyle/>
            <a:p>
              <a:pPr algn="ctr" marL="0" indent="0" lvl="0">
                <a:lnSpc>
                  <a:spcPts val="1524"/>
                </a:lnSpc>
              </a:pPr>
            </a:p>
          </p:txBody>
        </p:sp>
      </p:grpSp>
      <p:sp>
        <p:nvSpPr>
          <p:cNvPr name="TextBox 11" id="11"/>
          <p:cNvSpPr txBox="true"/>
          <p:nvPr/>
        </p:nvSpPr>
        <p:spPr>
          <a:xfrm rot="0">
            <a:off x="3187465" y="1539603"/>
            <a:ext cx="2415122" cy="577833"/>
          </a:xfrm>
          <a:prstGeom prst="rect">
            <a:avLst/>
          </a:prstGeom>
        </p:spPr>
        <p:txBody>
          <a:bodyPr anchor="t" rtlCol="false" tIns="0" lIns="0" bIns="0" rIns="0">
            <a:spAutoFit/>
          </a:bodyPr>
          <a:lstStyle/>
          <a:p>
            <a:pPr algn="l" marL="0" indent="0" lvl="0">
              <a:lnSpc>
                <a:spcPts val="2198"/>
              </a:lnSpc>
            </a:pPr>
            <a:r>
              <a:rPr lang="en-US" b="true" sz="1998">
                <a:solidFill>
                  <a:srgbClr val="3E3E3E"/>
                </a:solidFill>
                <a:latin typeface="Poppins Semi-Bold"/>
                <a:ea typeface="Poppins Semi-Bold"/>
                <a:cs typeface="Poppins Semi-Bold"/>
                <a:sym typeface="Poppins Semi-Bold"/>
              </a:rPr>
              <a:t>PRODUCT OVERVIEW</a:t>
            </a:r>
          </a:p>
        </p:txBody>
      </p:sp>
      <p:sp>
        <p:nvSpPr>
          <p:cNvPr name="TextBox 12" id="12"/>
          <p:cNvSpPr txBox="true"/>
          <p:nvPr/>
        </p:nvSpPr>
        <p:spPr>
          <a:xfrm rot="0">
            <a:off x="3187465" y="2865477"/>
            <a:ext cx="6269187" cy="1916305"/>
          </a:xfrm>
          <a:prstGeom prst="rect">
            <a:avLst/>
          </a:prstGeom>
        </p:spPr>
        <p:txBody>
          <a:bodyPr anchor="t" rtlCol="false" tIns="0" lIns="0" bIns="0" rIns="0">
            <a:spAutoFit/>
          </a:bodyPr>
          <a:lstStyle/>
          <a:p>
            <a:pPr algn="l" marL="0" indent="0" lvl="0">
              <a:lnSpc>
                <a:spcPts val="7195"/>
              </a:lnSpc>
            </a:pPr>
            <a:r>
              <a:rPr lang="en-US" b="true" sz="7195">
                <a:solidFill>
                  <a:srgbClr val="834630"/>
                </a:solidFill>
                <a:latin typeface="Poppins Bold"/>
                <a:ea typeface="Poppins Bold"/>
                <a:cs typeface="Poppins Bold"/>
                <a:sym typeface="Poppins Bold"/>
              </a:rPr>
              <a:t>WHAT IS KDB ASSISTANT?</a:t>
            </a:r>
          </a:p>
        </p:txBody>
      </p:sp>
      <p:sp>
        <p:nvSpPr>
          <p:cNvPr name="TextBox 13" id="13"/>
          <p:cNvSpPr txBox="true"/>
          <p:nvPr/>
        </p:nvSpPr>
        <p:spPr>
          <a:xfrm rot="0">
            <a:off x="10769787" y="6307147"/>
            <a:ext cx="6489513" cy="1029413"/>
          </a:xfrm>
          <a:prstGeom prst="rect">
            <a:avLst/>
          </a:prstGeom>
        </p:spPr>
        <p:txBody>
          <a:bodyPr anchor="t" rtlCol="false" tIns="0" lIns="0" bIns="0" rIns="0">
            <a:spAutoFit/>
          </a:bodyPr>
          <a:lstStyle/>
          <a:p>
            <a:pPr algn="just" marL="0" indent="0" lvl="0">
              <a:lnSpc>
                <a:spcPts val="2060"/>
              </a:lnSpc>
            </a:pPr>
            <a:r>
              <a:rPr lang="en-US" sz="1471">
                <a:solidFill>
                  <a:srgbClr val="000000"/>
                </a:solidFill>
                <a:latin typeface="Poppins"/>
                <a:ea typeface="Poppins"/>
                <a:cs typeface="Poppins"/>
                <a:sym typeface="Poppins"/>
              </a:rPr>
              <a:t>A Moodle-based AI platform that uses uploaded course materials as source context. Designed for both students and professors, it supports personalized learning and controlled, rubric-based feedback.</a:t>
            </a:r>
          </a:p>
        </p:txBody>
      </p:sp>
      <p:sp>
        <p:nvSpPr>
          <p:cNvPr name="TextBox 14" id="14"/>
          <p:cNvSpPr txBox="true"/>
          <p:nvPr/>
        </p:nvSpPr>
        <p:spPr>
          <a:xfrm rot="0">
            <a:off x="10769787" y="5979487"/>
            <a:ext cx="4827929" cy="270494"/>
          </a:xfrm>
          <a:prstGeom prst="rect">
            <a:avLst/>
          </a:prstGeom>
        </p:spPr>
        <p:txBody>
          <a:bodyPr anchor="t" rtlCol="false" tIns="0" lIns="0" bIns="0" rIns="0">
            <a:spAutoFit/>
          </a:bodyPr>
          <a:lstStyle/>
          <a:p>
            <a:pPr algn="l" marL="0" indent="0" lvl="0">
              <a:lnSpc>
                <a:spcPts val="1978"/>
              </a:lnSpc>
            </a:pPr>
            <a:r>
              <a:rPr lang="en-US" b="true" sz="1798">
                <a:solidFill>
                  <a:srgbClr val="3E3E3E"/>
                </a:solidFill>
                <a:latin typeface="Poppins Semi-Bold"/>
                <a:ea typeface="Poppins Semi-Bold"/>
                <a:cs typeface="Poppins Semi-Bold"/>
                <a:sym typeface="Poppins Semi-Bold"/>
              </a:rPr>
              <a:t>COURSE-AWARE AI PLATFORM</a:t>
            </a:r>
          </a:p>
        </p:txBody>
      </p:sp>
      <p:sp>
        <p:nvSpPr>
          <p:cNvPr name="TextBox 15" id="15"/>
          <p:cNvSpPr txBox="true"/>
          <p:nvPr/>
        </p:nvSpPr>
        <p:spPr>
          <a:xfrm rot="0">
            <a:off x="10769787" y="7373225"/>
            <a:ext cx="6489513" cy="772238"/>
          </a:xfrm>
          <a:prstGeom prst="rect">
            <a:avLst/>
          </a:prstGeom>
        </p:spPr>
        <p:txBody>
          <a:bodyPr anchor="t" rtlCol="false" tIns="0" lIns="0" bIns="0" rIns="0">
            <a:spAutoFit/>
          </a:bodyPr>
          <a:lstStyle/>
          <a:p>
            <a:pPr algn="just" marL="0" indent="0" lvl="0">
              <a:lnSpc>
                <a:spcPts val="2060"/>
              </a:lnSpc>
            </a:pPr>
            <a:r>
              <a:rPr lang="en-US" sz="1471">
                <a:solidFill>
                  <a:srgbClr val="000000"/>
                </a:solidFill>
                <a:latin typeface="Poppins"/>
                <a:ea typeface="Poppins"/>
                <a:cs typeface="Poppins"/>
                <a:sym typeface="Poppins"/>
              </a:rPr>
              <a:t>Built around academic integrity and course alignment, KDB Assistant delivers intelligent support that respects institutional standards while enhancing the learning experience.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AutoShape 2" id="2"/>
          <p:cNvSpPr/>
          <p:nvPr/>
        </p:nvSpPr>
        <p:spPr>
          <a:xfrm>
            <a:off x="2111175" y="0"/>
            <a:ext cx="0" cy="10287000"/>
          </a:xfrm>
          <a:prstGeom prst="line">
            <a:avLst/>
          </a:prstGeom>
          <a:ln cap="flat" w="19050">
            <a:solidFill>
              <a:srgbClr val="3E3E3E"/>
            </a:solidFill>
            <a:prstDash val="solid"/>
            <a:headEnd type="none" len="sm" w="sm"/>
            <a:tailEnd type="none" len="sm" w="sm"/>
          </a:ln>
        </p:spPr>
      </p:sp>
      <p:sp>
        <p:nvSpPr>
          <p:cNvPr name="TextBox 3" id="3"/>
          <p:cNvSpPr txBox="true"/>
          <p:nvPr/>
        </p:nvSpPr>
        <p:spPr>
          <a:xfrm rot="0">
            <a:off x="3187465" y="2855952"/>
            <a:ext cx="8386261" cy="1820050"/>
          </a:xfrm>
          <a:prstGeom prst="rect">
            <a:avLst/>
          </a:prstGeom>
        </p:spPr>
        <p:txBody>
          <a:bodyPr anchor="t" rtlCol="false" tIns="0" lIns="0" bIns="0" rIns="0">
            <a:spAutoFit/>
          </a:bodyPr>
          <a:lstStyle/>
          <a:p>
            <a:pPr algn="l" marL="0" indent="0" lvl="0">
              <a:lnSpc>
                <a:spcPts val="6780"/>
              </a:lnSpc>
            </a:pPr>
            <a:r>
              <a:rPr lang="en-US" b="true" sz="6780">
                <a:solidFill>
                  <a:srgbClr val="834630"/>
                </a:solidFill>
                <a:latin typeface="Poppins Bold"/>
                <a:ea typeface="Poppins Bold"/>
                <a:cs typeface="Poppins Bold"/>
                <a:sym typeface="Poppins Bold"/>
              </a:rPr>
              <a:t>STUDENT LEARNING FEATURES</a:t>
            </a:r>
          </a:p>
        </p:txBody>
      </p:sp>
      <p:grpSp>
        <p:nvGrpSpPr>
          <p:cNvPr name="Group 4" id="4"/>
          <p:cNvGrpSpPr/>
          <p:nvPr/>
        </p:nvGrpSpPr>
        <p:grpSpPr>
          <a:xfrm rot="0">
            <a:off x="8673010" y="1028700"/>
            <a:ext cx="8586290" cy="1933336"/>
            <a:chOff x="0" y="0"/>
            <a:chExt cx="11448387" cy="2577781"/>
          </a:xfrm>
        </p:grpSpPr>
        <p:pic>
          <p:nvPicPr>
            <p:cNvPr name="Picture 5" id="5"/>
            <p:cNvPicPr>
              <a:picLocks noChangeAspect="true"/>
            </p:cNvPicPr>
            <p:nvPr/>
          </p:nvPicPr>
          <p:blipFill>
            <a:blip r:embed="rId2"/>
            <a:srcRect l="0" t="30248" r="0" b="30248"/>
            <a:stretch>
              <a:fillRect/>
            </a:stretch>
          </p:blipFill>
          <p:spPr>
            <a:xfrm flipH="false" flipV="false">
              <a:off x="0" y="0"/>
              <a:ext cx="11448387" cy="2577781"/>
            </a:xfrm>
            <a:prstGeom prst="rect">
              <a:avLst/>
            </a:prstGeom>
          </p:spPr>
        </p:pic>
      </p:grpSp>
      <p:grpSp>
        <p:nvGrpSpPr>
          <p:cNvPr name="Group 6" id="6"/>
          <p:cNvGrpSpPr/>
          <p:nvPr/>
        </p:nvGrpSpPr>
        <p:grpSpPr>
          <a:xfrm rot="0">
            <a:off x="14081519" y="0"/>
            <a:ext cx="4206481" cy="1660593"/>
            <a:chOff x="0" y="0"/>
            <a:chExt cx="1107880" cy="437358"/>
          </a:xfrm>
        </p:grpSpPr>
        <p:sp>
          <p:nvSpPr>
            <p:cNvPr name="Freeform 7" id="7"/>
            <p:cNvSpPr/>
            <p:nvPr/>
          </p:nvSpPr>
          <p:spPr>
            <a:xfrm flipH="false" flipV="false" rot="0">
              <a:off x="0" y="0"/>
              <a:ext cx="1107880" cy="437358"/>
            </a:xfrm>
            <a:custGeom>
              <a:avLst/>
              <a:gdLst/>
              <a:ahLst/>
              <a:cxnLst/>
              <a:rect r="r" b="b" t="t" l="l"/>
              <a:pathLst>
                <a:path h="437358" w="1107880">
                  <a:moveTo>
                    <a:pt x="0" y="0"/>
                  </a:moveTo>
                  <a:lnTo>
                    <a:pt x="1107880" y="0"/>
                  </a:lnTo>
                  <a:lnTo>
                    <a:pt x="1107880" y="437358"/>
                  </a:lnTo>
                  <a:lnTo>
                    <a:pt x="0" y="437358"/>
                  </a:lnTo>
                  <a:close/>
                </a:path>
              </a:pathLst>
            </a:custGeom>
            <a:solidFill>
              <a:srgbClr val="FEFEFE"/>
            </a:solidFill>
          </p:spPr>
        </p:sp>
        <p:sp>
          <p:nvSpPr>
            <p:cNvPr name="TextBox 8" id="8"/>
            <p:cNvSpPr txBox="true"/>
            <p:nvPr/>
          </p:nvSpPr>
          <p:spPr>
            <a:xfrm>
              <a:off x="0" y="-9525"/>
              <a:ext cx="1107880" cy="446883"/>
            </a:xfrm>
            <a:prstGeom prst="rect">
              <a:avLst/>
            </a:prstGeom>
          </p:spPr>
          <p:txBody>
            <a:bodyPr anchor="ctr" rtlCol="false" tIns="50800" lIns="50800" bIns="50800" rIns="50800"/>
            <a:lstStyle/>
            <a:p>
              <a:pPr algn="ctr" marL="0" indent="0" lvl="0">
                <a:lnSpc>
                  <a:spcPts val="1524"/>
                </a:lnSpc>
              </a:pPr>
            </a:p>
          </p:txBody>
        </p:sp>
      </p:grpSp>
      <p:grpSp>
        <p:nvGrpSpPr>
          <p:cNvPr name="Group 9" id="9"/>
          <p:cNvGrpSpPr/>
          <p:nvPr/>
        </p:nvGrpSpPr>
        <p:grpSpPr>
          <a:xfrm rot="0">
            <a:off x="3187465" y="6730463"/>
            <a:ext cx="5070421" cy="2265100"/>
            <a:chOff x="0" y="0"/>
            <a:chExt cx="6760561" cy="3020134"/>
          </a:xfrm>
        </p:grpSpPr>
        <p:pic>
          <p:nvPicPr>
            <p:cNvPr name="Picture 10" id="10"/>
            <p:cNvPicPr>
              <a:picLocks noChangeAspect="true"/>
            </p:cNvPicPr>
            <p:nvPr/>
          </p:nvPicPr>
          <p:blipFill>
            <a:blip r:embed="rId3"/>
            <a:srcRect l="0" t="10813" r="0" b="10813"/>
            <a:stretch>
              <a:fillRect/>
            </a:stretch>
          </p:blipFill>
          <p:spPr>
            <a:xfrm flipH="false" flipV="false">
              <a:off x="0" y="0"/>
              <a:ext cx="6760561" cy="3020134"/>
            </a:xfrm>
            <a:prstGeom prst="rect">
              <a:avLst/>
            </a:prstGeom>
          </p:spPr>
        </p:pic>
      </p:grpSp>
      <p:grpSp>
        <p:nvGrpSpPr>
          <p:cNvPr name="Group 11" id="11"/>
          <p:cNvGrpSpPr/>
          <p:nvPr/>
        </p:nvGrpSpPr>
        <p:grpSpPr>
          <a:xfrm rot="0">
            <a:off x="12748784" y="3826599"/>
            <a:ext cx="4510516" cy="2227590"/>
            <a:chOff x="0" y="0"/>
            <a:chExt cx="6014021" cy="2970119"/>
          </a:xfrm>
        </p:grpSpPr>
        <p:pic>
          <p:nvPicPr>
            <p:cNvPr name="Picture 12" id="12"/>
            <p:cNvPicPr>
              <a:picLocks noChangeAspect="true"/>
            </p:cNvPicPr>
            <p:nvPr/>
          </p:nvPicPr>
          <p:blipFill>
            <a:blip r:embed="rId4"/>
            <a:srcRect l="0" t="6678" r="0" b="6678"/>
            <a:stretch>
              <a:fillRect/>
            </a:stretch>
          </p:blipFill>
          <p:spPr>
            <a:xfrm flipH="false" flipV="false">
              <a:off x="0" y="0"/>
              <a:ext cx="6014021" cy="2970119"/>
            </a:xfrm>
            <a:prstGeom prst="rect">
              <a:avLst/>
            </a:prstGeom>
          </p:spPr>
        </p:pic>
      </p:grpSp>
      <p:sp>
        <p:nvSpPr>
          <p:cNvPr name="TextBox 13" id="13"/>
          <p:cNvSpPr txBox="true"/>
          <p:nvPr/>
        </p:nvSpPr>
        <p:spPr>
          <a:xfrm rot="0">
            <a:off x="3187465" y="1539603"/>
            <a:ext cx="2415122" cy="577833"/>
          </a:xfrm>
          <a:prstGeom prst="rect">
            <a:avLst/>
          </a:prstGeom>
        </p:spPr>
        <p:txBody>
          <a:bodyPr anchor="t" rtlCol="false" tIns="0" lIns="0" bIns="0" rIns="0">
            <a:spAutoFit/>
          </a:bodyPr>
          <a:lstStyle/>
          <a:p>
            <a:pPr algn="l" marL="0" indent="0" lvl="0">
              <a:lnSpc>
                <a:spcPts val="2198"/>
              </a:lnSpc>
            </a:pPr>
            <a:r>
              <a:rPr lang="en-US" b="true" sz="1998">
                <a:solidFill>
                  <a:srgbClr val="3E3E3E"/>
                </a:solidFill>
                <a:latin typeface="Poppins Semi-Bold"/>
                <a:ea typeface="Poppins Semi-Bold"/>
                <a:cs typeface="Poppins Semi-Bold"/>
                <a:sym typeface="Poppins Semi-Bold"/>
              </a:rPr>
              <a:t>AI-POWERED LEARNING TOOLS</a:t>
            </a:r>
          </a:p>
        </p:txBody>
      </p:sp>
      <p:sp>
        <p:nvSpPr>
          <p:cNvPr name="TextBox 14" id="14"/>
          <p:cNvSpPr txBox="true"/>
          <p:nvPr/>
        </p:nvSpPr>
        <p:spPr>
          <a:xfrm rot="0">
            <a:off x="3187465" y="5218529"/>
            <a:ext cx="8494519" cy="835687"/>
          </a:xfrm>
          <a:prstGeom prst="rect">
            <a:avLst/>
          </a:prstGeom>
        </p:spPr>
        <p:txBody>
          <a:bodyPr anchor="t" rtlCol="false" tIns="0" lIns="0" bIns="0" rIns="0">
            <a:spAutoFit/>
          </a:bodyPr>
          <a:lstStyle/>
          <a:p>
            <a:pPr algn="just" marL="0" indent="0" lvl="0">
              <a:lnSpc>
                <a:spcPts val="2238"/>
              </a:lnSpc>
            </a:pPr>
            <a:r>
              <a:rPr lang="en-US" sz="1598">
                <a:solidFill>
                  <a:srgbClr val="000000"/>
                </a:solidFill>
                <a:latin typeface="Poppins"/>
                <a:ea typeface="Poppins"/>
                <a:cs typeface="Poppins"/>
                <a:sym typeface="Poppins"/>
              </a:rPr>
              <a:t>Course-Aware AI Chatbot: Answers questions grounded in lecture notes, slides, and PDFs. Provides relevant academic support tied directly to your course materials, ensuring accurate and contextual responses.</a:t>
            </a:r>
          </a:p>
        </p:txBody>
      </p:sp>
      <p:sp>
        <p:nvSpPr>
          <p:cNvPr name="TextBox 15" id="15"/>
          <p:cNvSpPr txBox="true"/>
          <p:nvPr/>
        </p:nvSpPr>
        <p:spPr>
          <a:xfrm rot="0">
            <a:off x="9419936" y="7264873"/>
            <a:ext cx="7081584" cy="899824"/>
          </a:xfrm>
          <a:prstGeom prst="rect">
            <a:avLst/>
          </a:prstGeom>
        </p:spPr>
        <p:txBody>
          <a:bodyPr anchor="t" rtlCol="false" tIns="0" lIns="0" bIns="0" rIns="0">
            <a:spAutoFit/>
          </a:bodyPr>
          <a:lstStyle/>
          <a:p>
            <a:pPr algn="just" marL="0" indent="0" lvl="0">
              <a:lnSpc>
                <a:spcPts val="2378"/>
              </a:lnSpc>
            </a:pPr>
            <a:r>
              <a:rPr lang="en-US" sz="1698">
                <a:solidFill>
                  <a:srgbClr val="000000"/>
                </a:solidFill>
                <a:latin typeface="Poppins"/>
                <a:ea typeface="Poppins"/>
                <a:cs typeface="Poppins"/>
                <a:sym typeface="Poppins"/>
              </a:rPr>
              <a:t>Practice Exam Generator: Creates practice exams directly from course content. Supports targeted revision and exam preparation with questions aligned to learning objectives.</a:t>
            </a:r>
          </a:p>
        </p:txBody>
      </p:sp>
      <p:sp>
        <p:nvSpPr>
          <p:cNvPr name="TextBox 16" id="16"/>
          <p:cNvSpPr txBox="true"/>
          <p:nvPr/>
        </p:nvSpPr>
        <p:spPr>
          <a:xfrm rot="0">
            <a:off x="9419936" y="6956262"/>
            <a:ext cx="4101292" cy="270494"/>
          </a:xfrm>
          <a:prstGeom prst="rect">
            <a:avLst/>
          </a:prstGeom>
        </p:spPr>
        <p:txBody>
          <a:bodyPr anchor="t" rtlCol="false" tIns="0" lIns="0" bIns="0" rIns="0">
            <a:spAutoFit/>
          </a:bodyPr>
          <a:lstStyle/>
          <a:p>
            <a:pPr algn="l" marL="0" indent="0" lvl="0">
              <a:lnSpc>
                <a:spcPts val="1978"/>
              </a:lnSpc>
            </a:pPr>
            <a:r>
              <a:rPr lang="en-US" b="true" sz="1798">
                <a:solidFill>
                  <a:srgbClr val="3E3E3E"/>
                </a:solidFill>
                <a:latin typeface="Poppins Semi-Bold"/>
                <a:ea typeface="Poppins Semi-Bold"/>
                <a:cs typeface="Poppins Semi-Bold"/>
                <a:sym typeface="Poppins Semi-Bold"/>
              </a:rPr>
              <a:t>PERSONALIZED TOPIC EXPLANATION</a:t>
            </a:r>
          </a:p>
        </p:txBody>
      </p:sp>
      <p:sp>
        <p:nvSpPr>
          <p:cNvPr name="TextBox 17" id="17"/>
          <p:cNvSpPr txBox="true"/>
          <p:nvPr/>
        </p:nvSpPr>
        <p:spPr>
          <a:xfrm rot="0">
            <a:off x="9419936" y="8391045"/>
            <a:ext cx="7081584" cy="604549"/>
          </a:xfrm>
          <a:prstGeom prst="rect">
            <a:avLst/>
          </a:prstGeom>
        </p:spPr>
        <p:txBody>
          <a:bodyPr anchor="t" rtlCol="false" tIns="0" lIns="0" bIns="0" rIns="0">
            <a:spAutoFit/>
          </a:bodyPr>
          <a:lstStyle/>
          <a:p>
            <a:pPr algn="just" marL="0" indent="0" lvl="0">
              <a:lnSpc>
                <a:spcPts val="2378"/>
              </a:lnSpc>
            </a:pPr>
            <a:r>
              <a:rPr lang="en-US" sz="1698">
                <a:solidFill>
                  <a:srgbClr val="000000"/>
                </a:solidFill>
                <a:latin typeface="Poppins"/>
                <a:ea typeface="Poppins"/>
                <a:cs typeface="Poppins"/>
                <a:sym typeface="Poppins"/>
              </a:rPr>
              <a:t>Tailors explanations based on student's weak areas. Helps improve understanding where needed most.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AutoShape 2" id="2"/>
          <p:cNvSpPr/>
          <p:nvPr/>
        </p:nvSpPr>
        <p:spPr>
          <a:xfrm>
            <a:off x="2111175" y="0"/>
            <a:ext cx="0" cy="10287000"/>
          </a:xfrm>
          <a:prstGeom prst="line">
            <a:avLst/>
          </a:prstGeom>
          <a:ln cap="flat" w="19050">
            <a:solidFill>
              <a:srgbClr val="3E3E3E"/>
            </a:solidFill>
            <a:prstDash val="solid"/>
            <a:headEnd type="none" len="sm" w="sm"/>
            <a:tailEnd type="none" len="sm" w="sm"/>
          </a:ln>
        </p:spPr>
      </p:sp>
      <p:grpSp>
        <p:nvGrpSpPr>
          <p:cNvPr name="Group 3" id="3"/>
          <p:cNvGrpSpPr/>
          <p:nvPr/>
        </p:nvGrpSpPr>
        <p:grpSpPr>
          <a:xfrm rot="0">
            <a:off x="3187465" y="6730463"/>
            <a:ext cx="5070421" cy="2265100"/>
            <a:chOff x="0" y="0"/>
            <a:chExt cx="6760561" cy="3020134"/>
          </a:xfrm>
        </p:grpSpPr>
        <p:pic>
          <p:nvPicPr>
            <p:cNvPr name="Picture 4" id="4"/>
            <p:cNvPicPr>
              <a:picLocks noChangeAspect="true"/>
            </p:cNvPicPr>
            <p:nvPr/>
          </p:nvPicPr>
          <p:blipFill>
            <a:blip r:embed="rId2"/>
            <a:srcRect l="0" t="10813" r="0" b="10813"/>
            <a:stretch>
              <a:fillRect/>
            </a:stretch>
          </p:blipFill>
          <p:spPr>
            <a:xfrm flipH="false" flipV="false">
              <a:off x="0" y="0"/>
              <a:ext cx="6760561" cy="3020134"/>
            </a:xfrm>
            <a:prstGeom prst="rect">
              <a:avLst/>
            </a:prstGeom>
          </p:spPr>
        </p:pic>
      </p:grpSp>
      <p:grpSp>
        <p:nvGrpSpPr>
          <p:cNvPr name="Group 5" id="5"/>
          <p:cNvGrpSpPr/>
          <p:nvPr/>
        </p:nvGrpSpPr>
        <p:grpSpPr>
          <a:xfrm rot="0">
            <a:off x="12960728" y="2117453"/>
            <a:ext cx="4298572" cy="3936735"/>
            <a:chOff x="0" y="0"/>
            <a:chExt cx="5731430" cy="5248981"/>
          </a:xfrm>
        </p:grpSpPr>
        <p:pic>
          <p:nvPicPr>
            <p:cNvPr name="Picture 6" id="6"/>
            <p:cNvPicPr>
              <a:picLocks noChangeAspect="true"/>
            </p:cNvPicPr>
            <p:nvPr/>
          </p:nvPicPr>
          <p:blipFill>
            <a:blip r:embed="rId3"/>
            <a:srcRect l="0" t="4208" r="0" b="4208"/>
            <a:stretch>
              <a:fillRect/>
            </a:stretch>
          </p:blipFill>
          <p:spPr>
            <a:xfrm flipH="false" flipV="false">
              <a:off x="0" y="0"/>
              <a:ext cx="5731430" cy="5248981"/>
            </a:xfrm>
            <a:prstGeom prst="rect">
              <a:avLst/>
            </a:prstGeom>
          </p:spPr>
        </p:pic>
      </p:grpSp>
      <p:sp>
        <p:nvSpPr>
          <p:cNvPr name="Freeform 7" id="7"/>
          <p:cNvSpPr/>
          <p:nvPr/>
        </p:nvSpPr>
        <p:spPr>
          <a:xfrm flipH="false" flipV="false" rot="0">
            <a:off x="8913173" y="1539603"/>
            <a:ext cx="582302" cy="239937"/>
          </a:xfrm>
          <a:custGeom>
            <a:avLst/>
            <a:gdLst/>
            <a:ahLst/>
            <a:cxnLst/>
            <a:rect r="r" b="b" t="t" l="l"/>
            <a:pathLst>
              <a:path h="239937" w="582302">
                <a:moveTo>
                  <a:pt x="0" y="0"/>
                </a:moveTo>
                <a:lnTo>
                  <a:pt x="582303" y="0"/>
                </a:lnTo>
                <a:lnTo>
                  <a:pt x="582303" y="239936"/>
                </a:lnTo>
                <a:lnTo>
                  <a:pt x="0" y="239936"/>
                </a:lnTo>
                <a:lnTo>
                  <a:pt x="0" y="0"/>
                </a:lnTo>
                <a:close/>
              </a:path>
            </a:pathLst>
          </a:custGeom>
          <a:blipFill>
            <a:blip r:embed="rId4">
              <a:extLst>
                <a:ext uri="{96DAC541-7B7A-43D3-8B79-37D633B846F1}">
                  <asvg:svgBlip xmlns:asvg="http://schemas.microsoft.com/office/drawing/2016/SVG/main" r:embed="rId5"/>
                </a:ext>
              </a:extLst>
            </a:blip>
            <a:stretch>
              <a:fillRect l="0" t="0" r="-116511" b="-425452"/>
            </a:stretch>
          </a:blipFill>
        </p:spPr>
      </p:sp>
      <p:grpSp>
        <p:nvGrpSpPr>
          <p:cNvPr name="Group 8" id="8"/>
          <p:cNvGrpSpPr/>
          <p:nvPr/>
        </p:nvGrpSpPr>
        <p:grpSpPr>
          <a:xfrm rot="0">
            <a:off x="12960728" y="0"/>
            <a:ext cx="2386387" cy="1028700"/>
            <a:chOff x="0" y="0"/>
            <a:chExt cx="628513" cy="270933"/>
          </a:xfrm>
        </p:grpSpPr>
        <p:sp>
          <p:nvSpPr>
            <p:cNvPr name="Freeform 9" id="9"/>
            <p:cNvSpPr/>
            <p:nvPr/>
          </p:nvSpPr>
          <p:spPr>
            <a:xfrm flipH="false" flipV="false" rot="0">
              <a:off x="0" y="0"/>
              <a:ext cx="628513" cy="270933"/>
            </a:xfrm>
            <a:custGeom>
              <a:avLst/>
              <a:gdLst/>
              <a:ahLst/>
              <a:cxnLst/>
              <a:rect r="r" b="b" t="t" l="l"/>
              <a:pathLst>
                <a:path h="270933" w="628513">
                  <a:moveTo>
                    <a:pt x="0" y="0"/>
                  </a:moveTo>
                  <a:lnTo>
                    <a:pt x="628513" y="0"/>
                  </a:lnTo>
                  <a:lnTo>
                    <a:pt x="628513" y="270933"/>
                  </a:lnTo>
                  <a:lnTo>
                    <a:pt x="0" y="270933"/>
                  </a:lnTo>
                  <a:close/>
                </a:path>
              </a:pathLst>
            </a:custGeom>
            <a:solidFill>
              <a:srgbClr val="FEFEFE"/>
            </a:solidFill>
          </p:spPr>
        </p:sp>
        <p:sp>
          <p:nvSpPr>
            <p:cNvPr name="TextBox 10" id="10"/>
            <p:cNvSpPr txBox="true"/>
            <p:nvPr/>
          </p:nvSpPr>
          <p:spPr>
            <a:xfrm>
              <a:off x="0" y="-9525"/>
              <a:ext cx="628513" cy="280458"/>
            </a:xfrm>
            <a:prstGeom prst="rect">
              <a:avLst/>
            </a:prstGeom>
          </p:spPr>
          <p:txBody>
            <a:bodyPr anchor="ctr" rtlCol="false" tIns="50800" lIns="50800" bIns="50800" rIns="50800"/>
            <a:lstStyle/>
            <a:p>
              <a:pPr algn="ctr" marL="0" indent="0" lvl="0">
                <a:lnSpc>
                  <a:spcPts val="1524"/>
                </a:lnSpc>
              </a:pPr>
            </a:p>
          </p:txBody>
        </p:sp>
      </p:grpSp>
      <p:sp>
        <p:nvSpPr>
          <p:cNvPr name="TextBox 11" id="11"/>
          <p:cNvSpPr txBox="true"/>
          <p:nvPr/>
        </p:nvSpPr>
        <p:spPr>
          <a:xfrm rot="0">
            <a:off x="3187465" y="1539603"/>
            <a:ext cx="2415122" cy="577833"/>
          </a:xfrm>
          <a:prstGeom prst="rect">
            <a:avLst/>
          </a:prstGeom>
        </p:spPr>
        <p:txBody>
          <a:bodyPr anchor="t" rtlCol="false" tIns="0" lIns="0" bIns="0" rIns="0">
            <a:spAutoFit/>
          </a:bodyPr>
          <a:lstStyle/>
          <a:p>
            <a:pPr algn="l" marL="0" indent="0" lvl="0">
              <a:lnSpc>
                <a:spcPts val="2198"/>
              </a:lnSpc>
            </a:pPr>
            <a:r>
              <a:rPr lang="en-US" b="true" sz="1998">
                <a:solidFill>
                  <a:srgbClr val="3E3E3E"/>
                </a:solidFill>
                <a:latin typeface="Poppins Semi-Bold"/>
                <a:ea typeface="Poppins Semi-Bold"/>
                <a:cs typeface="Poppins Semi-Bold"/>
                <a:sym typeface="Poppins Semi-Bold"/>
              </a:rPr>
              <a:t>ASSESSMENT TOOLS</a:t>
            </a:r>
          </a:p>
        </p:txBody>
      </p:sp>
      <p:sp>
        <p:nvSpPr>
          <p:cNvPr name="TextBox 12" id="12"/>
          <p:cNvSpPr txBox="true"/>
          <p:nvPr/>
        </p:nvSpPr>
        <p:spPr>
          <a:xfrm rot="0">
            <a:off x="3187465" y="2846427"/>
            <a:ext cx="8494519" cy="1536071"/>
          </a:xfrm>
          <a:prstGeom prst="rect">
            <a:avLst/>
          </a:prstGeom>
        </p:spPr>
        <p:txBody>
          <a:bodyPr anchor="t" rtlCol="false" tIns="0" lIns="0" bIns="0" rIns="0">
            <a:spAutoFit/>
          </a:bodyPr>
          <a:lstStyle/>
          <a:p>
            <a:pPr algn="l" marL="0" indent="0" lvl="0">
              <a:lnSpc>
                <a:spcPts val="5725"/>
              </a:lnSpc>
            </a:pPr>
            <a:r>
              <a:rPr lang="en-US" b="true" sz="5725">
                <a:solidFill>
                  <a:srgbClr val="834630"/>
                </a:solidFill>
                <a:latin typeface="Poppins Bold"/>
                <a:ea typeface="Poppins Bold"/>
                <a:cs typeface="Poppins Bold"/>
                <a:sym typeface="Poppins Bold"/>
              </a:rPr>
              <a:t>PROFESSOR AND ASSESSMENT FEATURES</a:t>
            </a:r>
          </a:p>
        </p:txBody>
      </p:sp>
      <p:sp>
        <p:nvSpPr>
          <p:cNvPr name="TextBox 13" id="13"/>
          <p:cNvSpPr txBox="true"/>
          <p:nvPr/>
        </p:nvSpPr>
        <p:spPr>
          <a:xfrm rot="0">
            <a:off x="3187465" y="5218529"/>
            <a:ext cx="8494519" cy="1002080"/>
          </a:xfrm>
          <a:prstGeom prst="rect">
            <a:avLst/>
          </a:prstGeom>
        </p:spPr>
        <p:txBody>
          <a:bodyPr anchor="t" rtlCol="false" tIns="0" lIns="0" bIns="0" rIns="0">
            <a:spAutoFit/>
          </a:bodyPr>
          <a:lstStyle/>
          <a:p>
            <a:pPr algn="just" marL="0" indent="0" lvl="0">
              <a:lnSpc>
                <a:spcPts val="1992"/>
              </a:lnSpc>
            </a:pPr>
            <a:r>
              <a:rPr lang="en-US" sz="1423">
                <a:solidFill>
                  <a:srgbClr val="000000"/>
                </a:solidFill>
                <a:latin typeface="Poppins"/>
                <a:ea typeface="Poppins"/>
                <a:cs typeface="Poppins"/>
                <a:sym typeface="Poppins"/>
              </a:rPr>
              <a:t>KDB Assistant provides professors with powerful AI-driven assessment capabilities. The AI Rubric Engine evaluates student submissions using professor-defined criteria, leveraging marking instructions, expected structure, and learning outcomes for accurate, consistent grading.</a:t>
            </a:r>
          </a:p>
        </p:txBody>
      </p:sp>
      <p:sp>
        <p:nvSpPr>
          <p:cNvPr name="TextBox 14" id="14"/>
          <p:cNvSpPr txBox="true"/>
          <p:nvPr/>
        </p:nvSpPr>
        <p:spPr>
          <a:xfrm rot="0">
            <a:off x="9419936" y="7274398"/>
            <a:ext cx="7081584" cy="809321"/>
          </a:xfrm>
          <a:prstGeom prst="rect">
            <a:avLst/>
          </a:prstGeom>
        </p:spPr>
        <p:txBody>
          <a:bodyPr anchor="t" rtlCol="false" tIns="0" lIns="0" bIns="0" rIns="0">
            <a:spAutoFit/>
          </a:bodyPr>
          <a:lstStyle/>
          <a:p>
            <a:pPr algn="just" marL="0" indent="0" lvl="0">
              <a:lnSpc>
                <a:spcPts val="2116"/>
              </a:lnSpc>
            </a:pPr>
            <a:r>
              <a:rPr lang="en-US" sz="1511">
                <a:solidFill>
                  <a:srgbClr val="000000"/>
                </a:solidFill>
                <a:latin typeface="Poppins"/>
                <a:ea typeface="Poppins"/>
                <a:cs typeface="Poppins"/>
                <a:sym typeface="Poppins"/>
              </a:rPr>
              <a:t>Generates detailed analysis highlighting strengths, weaknesses, and specific improvement points. Supports draft review workflows and maintains evaluation consistency across submissions.</a:t>
            </a:r>
          </a:p>
        </p:txBody>
      </p:sp>
      <p:sp>
        <p:nvSpPr>
          <p:cNvPr name="TextBox 15" id="15"/>
          <p:cNvSpPr txBox="true"/>
          <p:nvPr/>
        </p:nvSpPr>
        <p:spPr>
          <a:xfrm rot="0">
            <a:off x="9419936" y="6956262"/>
            <a:ext cx="5956535" cy="270494"/>
          </a:xfrm>
          <a:prstGeom prst="rect">
            <a:avLst/>
          </a:prstGeom>
        </p:spPr>
        <p:txBody>
          <a:bodyPr anchor="t" rtlCol="false" tIns="0" lIns="0" bIns="0" rIns="0">
            <a:spAutoFit/>
          </a:bodyPr>
          <a:lstStyle/>
          <a:p>
            <a:pPr algn="l" marL="0" indent="0" lvl="0">
              <a:lnSpc>
                <a:spcPts val="1978"/>
              </a:lnSpc>
            </a:pPr>
            <a:r>
              <a:rPr lang="en-US" b="true" sz="1798">
                <a:solidFill>
                  <a:srgbClr val="3E3E3E"/>
                </a:solidFill>
                <a:latin typeface="Poppins Semi-Bold"/>
                <a:ea typeface="Poppins Semi-Bold"/>
                <a:cs typeface="Poppins Semi-Bold"/>
                <a:sym typeface="Poppins Semi-Bold"/>
              </a:rPr>
              <a:t>STRUCTURED AI FEEDBACK</a:t>
            </a:r>
          </a:p>
        </p:txBody>
      </p:sp>
      <p:sp>
        <p:nvSpPr>
          <p:cNvPr name="TextBox 16" id="16"/>
          <p:cNvSpPr txBox="true"/>
          <p:nvPr/>
        </p:nvSpPr>
        <p:spPr>
          <a:xfrm rot="0">
            <a:off x="9419936" y="8400570"/>
            <a:ext cx="7081584" cy="542621"/>
          </a:xfrm>
          <a:prstGeom prst="rect">
            <a:avLst/>
          </a:prstGeom>
        </p:spPr>
        <p:txBody>
          <a:bodyPr anchor="t" rtlCol="false" tIns="0" lIns="0" bIns="0" rIns="0">
            <a:spAutoFit/>
          </a:bodyPr>
          <a:lstStyle/>
          <a:p>
            <a:pPr algn="just" marL="0" indent="0" lvl="0">
              <a:lnSpc>
                <a:spcPts val="2116"/>
              </a:lnSpc>
            </a:pPr>
            <a:r>
              <a:rPr lang="en-US" sz="1511">
                <a:solidFill>
                  <a:srgbClr val="000000"/>
                </a:solidFill>
                <a:latin typeface="Poppins"/>
                <a:ea typeface="Poppins"/>
                <a:cs typeface="Poppins"/>
                <a:sym typeface="Poppins"/>
              </a:rPr>
              <a:t>Note: More detailed rubric input from professors strengthens alignment with grading expectations.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AutoShape 2" id="2"/>
          <p:cNvSpPr/>
          <p:nvPr/>
        </p:nvSpPr>
        <p:spPr>
          <a:xfrm>
            <a:off x="2111175" y="0"/>
            <a:ext cx="0" cy="10287000"/>
          </a:xfrm>
          <a:prstGeom prst="line">
            <a:avLst/>
          </a:prstGeom>
          <a:ln cap="flat" w="19050">
            <a:solidFill>
              <a:srgbClr val="3E3E3E"/>
            </a:solidFill>
            <a:prstDash val="solid"/>
            <a:headEnd type="none" len="sm" w="sm"/>
            <a:tailEnd type="none" len="sm" w="sm"/>
          </a:ln>
        </p:spPr>
      </p:sp>
      <p:grpSp>
        <p:nvGrpSpPr>
          <p:cNvPr name="Group 3" id="3"/>
          <p:cNvGrpSpPr/>
          <p:nvPr/>
        </p:nvGrpSpPr>
        <p:grpSpPr>
          <a:xfrm rot="0">
            <a:off x="10079903" y="1028700"/>
            <a:ext cx="3592593" cy="4686661"/>
            <a:chOff x="0" y="0"/>
            <a:chExt cx="4790124" cy="6248881"/>
          </a:xfrm>
        </p:grpSpPr>
        <p:pic>
          <p:nvPicPr>
            <p:cNvPr name="Picture 4" id="4"/>
            <p:cNvPicPr>
              <a:picLocks noChangeAspect="true"/>
            </p:cNvPicPr>
            <p:nvPr/>
          </p:nvPicPr>
          <p:blipFill>
            <a:blip r:embed="rId2"/>
            <a:srcRect l="0" t="1324" r="0" b="1324"/>
            <a:stretch>
              <a:fillRect/>
            </a:stretch>
          </p:blipFill>
          <p:spPr>
            <a:xfrm flipH="false" flipV="false">
              <a:off x="0" y="0"/>
              <a:ext cx="4790124" cy="6248881"/>
            </a:xfrm>
            <a:prstGeom prst="rect">
              <a:avLst/>
            </a:prstGeom>
          </p:spPr>
        </p:pic>
      </p:grpSp>
      <p:sp>
        <p:nvSpPr>
          <p:cNvPr name="Freeform 5" id="5"/>
          <p:cNvSpPr/>
          <p:nvPr/>
        </p:nvSpPr>
        <p:spPr>
          <a:xfrm flipH="false" flipV="false" rot="-2700000">
            <a:off x="3192298" y="6652880"/>
            <a:ext cx="502015" cy="502015"/>
          </a:xfrm>
          <a:custGeom>
            <a:avLst/>
            <a:gdLst/>
            <a:ahLst/>
            <a:cxnLst/>
            <a:rect r="r" b="b" t="t" l="l"/>
            <a:pathLst>
              <a:path h="502015" w="502015">
                <a:moveTo>
                  <a:pt x="0" y="0"/>
                </a:moveTo>
                <a:lnTo>
                  <a:pt x="502015" y="0"/>
                </a:lnTo>
                <a:lnTo>
                  <a:pt x="502015" y="502015"/>
                </a:lnTo>
                <a:lnTo>
                  <a:pt x="0" y="5020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9497600" y="6721101"/>
            <a:ext cx="582302" cy="239937"/>
          </a:xfrm>
          <a:custGeom>
            <a:avLst/>
            <a:gdLst/>
            <a:ahLst/>
            <a:cxnLst/>
            <a:rect r="r" b="b" t="t" l="l"/>
            <a:pathLst>
              <a:path h="239937" w="582302">
                <a:moveTo>
                  <a:pt x="0" y="0"/>
                </a:moveTo>
                <a:lnTo>
                  <a:pt x="582303" y="0"/>
                </a:lnTo>
                <a:lnTo>
                  <a:pt x="582303" y="239937"/>
                </a:lnTo>
                <a:lnTo>
                  <a:pt x="0" y="239937"/>
                </a:lnTo>
                <a:lnTo>
                  <a:pt x="0" y="0"/>
                </a:lnTo>
                <a:close/>
              </a:path>
            </a:pathLst>
          </a:custGeom>
          <a:blipFill>
            <a:blip r:embed="rId5">
              <a:extLst>
                <a:ext uri="{96DAC541-7B7A-43D3-8B79-37D633B846F1}">
                  <asvg:svgBlip xmlns:asvg="http://schemas.microsoft.com/office/drawing/2016/SVG/main" r:embed="rId6"/>
                </a:ext>
              </a:extLst>
            </a:blip>
            <a:stretch>
              <a:fillRect l="0" t="0" r="-116511" b="-425452"/>
            </a:stretch>
          </a:blipFill>
        </p:spPr>
      </p:sp>
      <p:grpSp>
        <p:nvGrpSpPr>
          <p:cNvPr name="Group 7" id="7"/>
          <p:cNvGrpSpPr/>
          <p:nvPr/>
        </p:nvGrpSpPr>
        <p:grpSpPr>
          <a:xfrm rot="0">
            <a:off x="15387940" y="2343331"/>
            <a:ext cx="2386387" cy="1028700"/>
            <a:chOff x="0" y="0"/>
            <a:chExt cx="628513" cy="270933"/>
          </a:xfrm>
        </p:grpSpPr>
        <p:sp>
          <p:nvSpPr>
            <p:cNvPr name="Freeform 8" id="8"/>
            <p:cNvSpPr/>
            <p:nvPr/>
          </p:nvSpPr>
          <p:spPr>
            <a:xfrm flipH="false" flipV="false" rot="0">
              <a:off x="0" y="0"/>
              <a:ext cx="628513" cy="270933"/>
            </a:xfrm>
            <a:custGeom>
              <a:avLst/>
              <a:gdLst/>
              <a:ahLst/>
              <a:cxnLst/>
              <a:rect r="r" b="b" t="t" l="l"/>
              <a:pathLst>
                <a:path h="270933" w="628513">
                  <a:moveTo>
                    <a:pt x="0" y="0"/>
                  </a:moveTo>
                  <a:lnTo>
                    <a:pt x="628513" y="0"/>
                  </a:lnTo>
                  <a:lnTo>
                    <a:pt x="628513" y="270933"/>
                  </a:lnTo>
                  <a:lnTo>
                    <a:pt x="0" y="270933"/>
                  </a:lnTo>
                  <a:close/>
                </a:path>
              </a:pathLst>
            </a:custGeom>
            <a:solidFill>
              <a:srgbClr val="FEFEFE"/>
            </a:solidFill>
          </p:spPr>
        </p:sp>
        <p:sp>
          <p:nvSpPr>
            <p:cNvPr name="TextBox 9" id="9"/>
            <p:cNvSpPr txBox="true"/>
            <p:nvPr/>
          </p:nvSpPr>
          <p:spPr>
            <a:xfrm>
              <a:off x="0" y="-9525"/>
              <a:ext cx="628513" cy="280458"/>
            </a:xfrm>
            <a:prstGeom prst="rect">
              <a:avLst/>
            </a:prstGeom>
          </p:spPr>
          <p:txBody>
            <a:bodyPr anchor="ctr" rtlCol="false" tIns="50800" lIns="50800" bIns="50800" rIns="50800"/>
            <a:lstStyle/>
            <a:p>
              <a:pPr algn="ctr" marL="0" indent="0" lvl="0">
                <a:lnSpc>
                  <a:spcPts val="1524"/>
                </a:lnSpc>
              </a:pPr>
            </a:p>
          </p:txBody>
        </p:sp>
      </p:grpSp>
      <p:grpSp>
        <p:nvGrpSpPr>
          <p:cNvPr name="Group 10" id="10"/>
          <p:cNvGrpSpPr/>
          <p:nvPr/>
        </p:nvGrpSpPr>
        <p:grpSpPr>
          <a:xfrm rot="0">
            <a:off x="11971200" y="6035649"/>
            <a:ext cx="2386387" cy="1028700"/>
            <a:chOff x="0" y="0"/>
            <a:chExt cx="628513" cy="270933"/>
          </a:xfrm>
        </p:grpSpPr>
        <p:sp>
          <p:nvSpPr>
            <p:cNvPr name="Freeform 11" id="11"/>
            <p:cNvSpPr/>
            <p:nvPr/>
          </p:nvSpPr>
          <p:spPr>
            <a:xfrm flipH="false" flipV="false" rot="0">
              <a:off x="0" y="0"/>
              <a:ext cx="628513" cy="270933"/>
            </a:xfrm>
            <a:custGeom>
              <a:avLst/>
              <a:gdLst/>
              <a:ahLst/>
              <a:cxnLst/>
              <a:rect r="r" b="b" t="t" l="l"/>
              <a:pathLst>
                <a:path h="270933" w="628513">
                  <a:moveTo>
                    <a:pt x="0" y="0"/>
                  </a:moveTo>
                  <a:lnTo>
                    <a:pt x="628513" y="0"/>
                  </a:lnTo>
                  <a:lnTo>
                    <a:pt x="628513" y="270933"/>
                  </a:lnTo>
                  <a:lnTo>
                    <a:pt x="0" y="270933"/>
                  </a:lnTo>
                  <a:close/>
                </a:path>
              </a:pathLst>
            </a:custGeom>
            <a:solidFill>
              <a:srgbClr val="FEFEFE"/>
            </a:solidFill>
          </p:spPr>
        </p:sp>
        <p:sp>
          <p:nvSpPr>
            <p:cNvPr name="TextBox 12" id="12"/>
            <p:cNvSpPr txBox="true"/>
            <p:nvPr/>
          </p:nvSpPr>
          <p:spPr>
            <a:xfrm>
              <a:off x="0" y="-9525"/>
              <a:ext cx="628513" cy="280458"/>
            </a:xfrm>
            <a:prstGeom prst="rect">
              <a:avLst/>
            </a:prstGeom>
          </p:spPr>
          <p:txBody>
            <a:bodyPr anchor="ctr" rtlCol="false" tIns="50800" lIns="50800" bIns="50800" rIns="50800"/>
            <a:lstStyle/>
            <a:p>
              <a:pPr algn="ctr" marL="0" indent="0" lvl="0">
                <a:lnSpc>
                  <a:spcPts val="1524"/>
                </a:lnSpc>
              </a:pPr>
            </a:p>
          </p:txBody>
        </p:sp>
      </p:grpSp>
      <p:grpSp>
        <p:nvGrpSpPr>
          <p:cNvPr name="Group 13" id="13"/>
          <p:cNvGrpSpPr/>
          <p:nvPr/>
        </p:nvGrpSpPr>
        <p:grpSpPr>
          <a:xfrm rot="0">
            <a:off x="12721413" y="3075734"/>
            <a:ext cx="4537887" cy="5919830"/>
            <a:chOff x="0" y="0"/>
            <a:chExt cx="6050516" cy="7893107"/>
          </a:xfrm>
        </p:grpSpPr>
        <p:pic>
          <p:nvPicPr>
            <p:cNvPr name="Picture 14" id="14"/>
            <p:cNvPicPr>
              <a:picLocks noChangeAspect="true"/>
            </p:cNvPicPr>
            <p:nvPr/>
          </p:nvPicPr>
          <p:blipFill>
            <a:blip r:embed="rId7"/>
            <a:srcRect l="0" t="1324" r="0" b="1324"/>
            <a:stretch>
              <a:fillRect/>
            </a:stretch>
          </p:blipFill>
          <p:spPr>
            <a:xfrm flipH="false" flipV="false">
              <a:off x="0" y="0"/>
              <a:ext cx="6050516" cy="7893107"/>
            </a:xfrm>
            <a:prstGeom prst="rect">
              <a:avLst/>
            </a:prstGeom>
          </p:spPr>
        </p:pic>
      </p:grpSp>
      <p:sp>
        <p:nvSpPr>
          <p:cNvPr name="TextBox 15" id="15"/>
          <p:cNvSpPr txBox="true"/>
          <p:nvPr/>
        </p:nvSpPr>
        <p:spPr>
          <a:xfrm rot="0">
            <a:off x="3187465" y="1539603"/>
            <a:ext cx="2415122" cy="301608"/>
          </a:xfrm>
          <a:prstGeom prst="rect">
            <a:avLst/>
          </a:prstGeom>
        </p:spPr>
        <p:txBody>
          <a:bodyPr anchor="t" rtlCol="false" tIns="0" lIns="0" bIns="0" rIns="0">
            <a:spAutoFit/>
          </a:bodyPr>
          <a:lstStyle/>
          <a:p>
            <a:pPr algn="l" marL="0" indent="0" lvl="0">
              <a:lnSpc>
                <a:spcPts val="2198"/>
              </a:lnSpc>
            </a:pPr>
            <a:r>
              <a:rPr lang="en-US" b="true" sz="1998">
                <a:solidFill>
                  <a:srgbClr val="3E3E3E"/>
                </a:solidFill>
                <a:latin typeface="Poppins Semi-Bold"/>
                <a:ea typeface="Poppins Semi-Bold"/>
                <a:cs typeface="Poppins Semi-Bold"/>
                <a:sym typeface="Poppins Semi-Bold"/>
              </a:rPr>
              <a:t>FEEDBACK MODES</a:t>
            </a:r>
          </a:p>
        </p:txBody>
      </p:sp>
      <p:sp>
        <p:nvSpPr>
          <p:cNvPr name="TextBox 16" id="16"/>
          <p:cNvSpPr txBox="true"/>
          <p:nvPr/>
        </p:nvSpPr>
        <p:spPr>
          <a:xfrm rot="0">
            <a:off x="3187465" y="2865477"/>
            <a:ext cx="5956535" cy="2821180"/>
          </a:xfrm>
          <a:prstGeom prst="rect">
            <a:avLst/>
          </a:prstGeom>
        </p:spPr>
        <p:txBody>
          <a:bodyPr anchor="t" rtlCol="false" tIns="0" lIns="0" bIns="0" rIns="0">
            <a:spAutoFit/>
          </a:bodyPr>
          <a:lstStyle/>
          <a:p>
            <a:pPr algn="l" marL="0" indent="0" lvl="0">
              <a:lnSpc>
                <a:spcPts val="7195"/>
              </a:lnSpc>
            </a:pPr>
            <a:r>
              <a:rPr lang="en-US" b="true" sz="7195">
                <a:solidFill>
                  <a:srgbClr val="834630"/>
                </a:solidFill>
                <a:latin typeface="Poppins Bold"/>
                <a:ea typeface="Poppins Bold"/>
                <a:cs typeface="Poppins Bold"/>
                <a:sym typeface="Poppins Bold"/>
              </a:rPr>
              <a:t>FLEXIBLE FEEDBACK MODES</a:t>
            </a:r>
          </a:p>
        </p:txBody>
      </p:sp>
      <p:sp>
        <p:nvSpPr>
          <p:cNvPr name="TextBox 17" id="17"/>
          <p:cNvSpPr txBox="true"/>
          <p:nvPr/>
        </p:nvSpPr>
        <p:spPr>
          <a:xfrm rot="0">
            <a:off x="3187465" y="7800495"/>
            <a:ext cx="7081584" cy="1195099"/>
          </a:xfrm>
          <a:prstGeom prst="rect">
            <a:avLst/>
          </a:prstGeom>
        </p:spPr>
        <p:txBody>
          <a:bodyPr anchor="t" rtlCol="false" tIns="0" lIns="0" bIns="0" rIns="0">
            <a:spAutoFit/>
          </a:bodyPr>
          <a:lstStyle/>
          <a:p>
            <a:pPr algn="just" marL="0" indent="0" lvl="0">
              <a:lnSpc>
                <a:spcPts val="2378"/>
              </a:lnSpc>
            </a:pPr>
            <a:r>
              <a:rPr lang="en-US" sz="1698">
                <a:solidFill>
                  <a:srgbClr val="000000"/>
                </a:solidFill>
                <a:latin typeface="Poppins"/>
                <a:ea typeface="Poppins"/>
                <a:cs typeface="Poppins"/>
                <a:sym typeface="Poppins"/>
              </a:rPr>
              <a:t>Three configurable feedback modes allow professors to tailor AI assistance to their teaching strategy—from rich, detailed guidance that supports intensive learning, to minimal feedback that ensures strict academic integrity and independent work.</a:t>
            </a:r>
          </a:p>
        </p:txBody>
      </p:sp>
      <p:sp>
        <p:nvSpPr>
          <p:cNvPr name="TextBox 18" id="18"/>
          <p:cNvSpPr txBox="true"/>
          <p:nvPr/>
        </p:nvSpPr>
        <p:spPr>
          <a:xfrm rot="0">
            <a:off x="3187465" y="7491884"/>
            <a:ext cx="4596023" cy="270494"/>
          </a:xfrm>
          <a:prstGeom prst="rect">
            <a:avLst/>
          </a:prstGeom>
        </p:spPr>
        <p:txBody>
          <a:bodyPr anchor="t" rtlCol="false" tIns="0" lIns="0" bIns="0" rIns="0">
            <a:spAutoFit/>
          </a:bodyPr>
          <a:lstStyle/>
          <a:p>
            <a:pPr algn="l" marL="0" indent="0" lvl="0">
              <a:lnSpc>
                <a:spcPts val="1978"/>
              </a:lnSpc>
            </a:pPr>
            <a:r>
              <a:rPr lang="en-US" b="true" sz="1798">
                <a:solidFill>
                  <a:srgbClr val="3E3E3E"/>
                </a:solidFill>
                <a:latin typeface="Poppins Semi-Bold"/>
                <a:ea typeface="Poppins Semi-Bold"/>
                <a:cs typeface="Poppins Semi-Bold"/>
                <a:sym typeface="Poppins Semi-Bold"/>
              </a:rPr>
              <a:t>ADAPTING TO TEACHING STRATEGIES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AutoShape 2" id="2"/>
          <p:cNvSpPr/>
          <p:nvPr/>
        </p:nvSpPr>
        <p:spPr>
          <a:xfrm>
            <a:off x="2111175" y="0"/>
            <a:ext cx="0" cy="10287000"/>
          </a:xfrm>
          <a:prstGeom prst="line">
            <a:avLst/>
          </a:prstGeom>
          <a:ln cap="flat" w="19050">
            <a:solidFill>
              <a:srgbClr val="3E3E3E"/>
            </a:solidFill>
            <a:prstDash val="solid"/>
            <a:headEnd type="none" len="sm" w="sm"/>
            <a:tailEnd type="none" len="sm" w="sm"/>
          </a:ln>
        </p:spPr>
      </p:sp>
      <p:sp>
        <p:nvSpPr>
          <p:cNvPr name="Freeform 3" id="3"/>
          <p:cNvSpPr/>
          <p:nvPr/>
        </p:nvSpPr>
        <p:spPr>
          <a:xfrm flipH="false" flipV="false" rot="-2700000">
            <a:off x="3192298" y="6652880"/>
            <a:ext cx="502015" cy="502015"/>
          </a:xfrm>
          <a:custGeom>
            <a:avLst/>
            <a:gdLst/>
            <a:ahLst/>
            <a:cxnLst/>
            <a:rect r="r" b="b" t="t" l="l"/>
            <a:pathLst>
              <a:path h="502015" w="502015">
                <a:moveTo>
                  <a:pt x="0" y="0"/>
                </a:moveTo>
                <a:lnTo>
                  <a:pt x="502015" y="0"/>
                </a:lnTo>
                <a:lnTo>
                  <a:pt x="502015" y="502015"/>
                </a:lnTo>
                <a:lnTo>
                  <a:pt x="0" y="5020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4764170" y="5477236"/>
            <a:ext cx="5014226" cy="3518328"/>
            <a:chOff x="0" y="0"/>
            <a:chExt cx="6685635" cy="4691104"/>
          </a:xfrm>
        </p:grpSpPr>
        <p:pic>
          <p:nvPicPr>
            <p:cNvPr name="Picture 5" id="5"/>
            <p:cNvPicPr>
              <a:picLocks noChangeAspect="true"/>
            </p:cNvPicPr>
            <p:nvPr/>
          </p:nvPicPr>
          <p:blipFill>
            <a:blip r:embed="rId4"/>
            <a:srcRect l="1989" t="0" r="1989" b="0"/>
            <a:stretch>
              <a:fillRect/>
            </a:stretch>
          </p:blipFill>
          <p:spPr>
            <a:xfrm flipH="false" flipV="false">
              <a:off x="0" y="0"/>
              <a:ext cx="6685635" cy="4691104"/>
            </a:xfrm>
            <a:prstGeom prst="rect">
              <a:avLst/>
            </a:prstGeom>
          </p:spPr>
        </p:pic>
      </p:grpSp>
      <p:grpSp>
        <p:nvGrpSpPr>
          <p:cNvPr name="Group 6" id="6"/>
          <p:cNvGrpSpPr/>
          <p:nvPr/>
        </p:nvGrpSpPr>
        <p:grpSpPr>
          <a:xfrm rot="0">
            <a:off x="11775741" y="1828528"/>
            <a:ext cx="5483559" cy="3314972"/>
            <a:chOff x="0" y="0"/>
            <a:chExt cx="7311412" cy="4419963"/>
          </a:xfrm>
        </p:grpSpPr>
        <p:pic>
          <p:nvPicPr>
            <p:cNvPr name="Picture 7" id="7"/>
            <p:cNvPicPr>
              <a:picLocks noChangeAspect="true"/>
            </p:cNvPicPr>
            <p:nvPr/>
          </p:nvPicPr>
          <p:blipFill>
            <a:blip r:embed="rId5"/>
            <a:srcRect l="2855" t="0" r="2855" b="0"/>
            <a:stretch>
              <a:fillRect/>
            </a:stretch>
          </p:blipFill>
          <p:spPr>
            <a:xfrm flipH="false" flipV="false">
              <a:off x="0" y="0"/>
              <a:ext cx="7311412" cy="4419963"/>
            </a:xfrm>
            <a:prstGeom prst="rect">
              <a:avLst/>
            </a:prstGeom>
          </p:spPr>
        </p:pic>
      </p:grpSp>
      <p:grpSp>
        <p:nvGrpSpPr>
          <p:cNvPr name="Group 8" id="8"/>
          <p:cNvGrpSpPr/>
          <p:nvPr/>
        </p:nvGrpSpPr>
        <p:grpSpPr>
          <a:xfrm rot="0">
            <a:off x="7070265" y="0"/>
            <a:ext cx="2386387" cy="1028700"/>
            <a:chOff x="0" y="0"/>
            <a:chExt cx="628513" cy="270933"/>
          </a:xfrm>
        </p:grpSpPr>
        <p:sp>
          <p:nvSpPr>
            <p:cNvPr name="Freeform 9" id="9"/>
            <p:cNvSpPr/>
            <p:nvPr/>
          </p:nvSpPr>
          <p:spPr>
            <a:xfrm flipH="false" flipV="false" rot="0">
              <a:off x="0" y="0"/>
              <a:ext cx="628513" cy="270933"/>
            </a:xfrm>
            <a:custGeom>
              <a:avLst/>
              <a:gdLst/>
              <a:ahLst/>
              <a:cxnLst/>
              <a:rect r="r" b="b" t="t" l="l"/>
              <a:pathLst>
                <a:path h="270933" w="628513">
                  <a:moveTo>
                    <a:pt x="0" y="0"/>
                  </a:moveTo>
                  <a:lnTo>
                    <a:pt x="628513" y="0"/>
                  </a:lnTo>
                  <a:lnTo>
                    <a:pt x="628513" y="270933"/>
                  </a:lnTo>
                  <a:lnTo>
                    <a:pt x="0" y="270933"/>
                  </a:lnTo>
                  <a:close/>
                </a:path>
              </a:pathLst>
            </a:custGeom>
            <a:solidFill>
              <a:srgbClr val="FEFEFE"/>
            </a:solidFill>
          </p:spPr>
        </p:sp>
        <p:sp>
          <p:nvSpPr>
            <p:cNvPr name="TextBox 10" id="10"/>
            <p:cNvSpPr txBox="true"/>
            <p:nvPr/>
          </p:nvSpPr>
          <p:spPr>
            <a:xfrm>
              <a:off x="0" y="-9525"/>
              <a:ext cx="628513" cy="280458"/>
            </a:xfrm>
            <a:prstGeom prst="rect">
              <a:avLst/>
            </a:prstGeom>
          </p:spPr>
          <p:txBody>
            <a:bodyPr anchor="ctr" rtlCol="false" tIns="50800" lIns="50800" bIns="50800" rIns="50800"/>
            <a:lstStyle/>
            <a:p>
              <a:pPr algn="ctr" marL="0" indent="0" lvl="0">
                <a:lnSpc>
                  <a:spcPts val="1524"/>
                </a:lnSpc>
              </a:pPr>
            </a:p>
          </p:txBody>
        </p:sp>
      </p:grpSp>
      <p:sp>
        <p:nvSpPr>
          <p:cNvPr name="Freeform 11" id="11"/>
          <p:cNvSpPr/>
          <p:nvPr/>
        </p:nvSpPr>
        <p:spPr>
          <a:xfrm flipH="false" flipV="false" rot="0">
            <a:off x="9165501" y="1867991"/>
            <a:ext cx="582302" cy="239937"/>
          </a:xfrm>
          <a:custGeom>
            <a:avLst/>
            <a:gdLst/>
            <a:ahLst/>
            <a:cxnLst/>
            <a:rect r="r" b="b" t="t" l="l"/>
            <a:pathLst>
              <a:path h="239937" w="582302">
                <a:moveTo>
                  <a:pt x="0" y="0"/>
                </a:moveTo>
                <a:lnTo>
                  <a:pt x="582302" y="0"/>
                </a:lnTo>
                <a:lnTo>
                  <a:pt x="582302" y="239937"/>
                </a:lnTo>
                <a:lnTo>
                  <a:pt x="0" y="239937"/>
                </a:lnTo>
                <a:lnTo>
                  <a:pt x="0" y="0"/>
                </a:lnTo>
                <a:close/>
              </a:path>
            </a:pathLst>
          </a:custGeom>
          <a:blipFill>
            <a:blip r:embed="rId6">
              <a:extLst>
                <a:ext uri="{96DAC541-7B7A-43D3-8B79-37D633B846F1}">
                  <asvg:svgBlip xmlns:asvg="http://schemas.microsoft.com/office/drawing/2016/SVG/main" r:embed="rId7"/>
                </a:ext>
              </a:extLst>
            </a:blip>
            <a:stretch>
              <a:fillRect l="0" t="0" r="-116511" b="-425452"/>
            </a:stretch>
          </a:blipFill>
        </p:spPr>
      </p:sp>
      <p:sp>
        <p:nvSpPr>
          <p:cNvPr name="TextBox 12" id="12"/>
          <p:cNvSpPr txBox="true"/>
          <p:nvPr/>
        </p:nvSpPr>
        <p:spPr>
          <a:xfrm rot="0">
            <a:off x="3187465" y="1539603"/>
            <a:ext cx="2415122" cy="577833"/>
          </a:xfrm>
          <a:prstGeom prst="rect">
            <a:avLst/>
          </a:prstGeom>
        </p:spPr>
        <p:txBody>
          <a:bodyPr anchor="t" rtlCol="false" tIns="0" lIns="0" bIns="0" rIns="0">
            <a:spAutoFit/>
          </a:bodyPr>
          <a:lstStyle/>
          <a:p>
            <a:pPr algn="l" marL="0" indent="0" lvl="0">
              <a:lnSpc>
                <a:spcPts val="2198"/>
              </a:lnSpc>
            </a:pPr>
            <a:r>
              <a:rPr lang="en-US" b="true" sz="1998">
                <a:solidFill>
                  <a:srgbClr val="3E3E3E"/>
                </a:solidFill>
                <a:latin typeface="Poppins Semi-Bold"/>
                <a:ea typeface="Poppins Semi-Bold"/>
                <a:cs typeface="Poppins Semi-Bold"/>
                <a:sym typeface="Poppins Semi-Bold"/>
              </a:rPr>
              <a:t>TECHNICAL OVERVIEW</a:t>
            </a:r>
          </a:p>
        </p:txBody>
      </p:sp>
      <p:sp>
        <p:nvSpPr>
          <p:cNvPr name="TextBox 13" id="13"/>
          <p:cNvSpPr txBox="true"/>
          <p:nvPr/>
        </p:nvSpPr>
        <p:spPr>
          <a:xfrm rot="0">
            <a:off x="3187465" y="2865477"/>
            <a:ext cx="7289571" cy="1916305"/>
          </a:xfrm>
          <a:prstGeom prst="rect">
            <a:avLst/>
          </a:prstGeom>
        </p:spPr>
        <p:txBody>
          <a:bodyPr anchor="t" rtlCol="false" tIns="0" lIns="0" bIns="0" rIns="0">
            <a:spAutoFit/>
          </a:bodyPr>
          <a:lstStyle/>
          <a:p>
            <a:pPr algn="l" marL="0" indent="0" lvl="0">
              <a:lnSpc>
                <a:spcPts val="7195"/>
              </a:lnSpc>
            </a:pPr>
            <a:r>
              <a:rPr lang="en-US" b="true" sz="7195">
                <a:solidFill>
                  <a:srgbClr val="834630"/>
                </a:solidFill>
                <a:latin typeface="Poppins Bold"/>
                <a:ea typeface="Poppins Bold"/>
                <a:cs typeface="Poppins Bold"/>
                <a:sym typeface="Poppins Bold"/>
              </a:rPr>
              <a:t>HOW THE SYSTEM WORKS</a:t>
            </a:r>
          </a:p>
        </p:txBody>
      </p:sp>
      <p:sp>
        <p:nvSpPr>
          <p:cNvPr name="TextBox 14" id="14"/>
          <p:cNvSpPr txBox="true"/>
          <p:nvPr/>
        </p:nvSpPr>
        <p:spPr>
          <a:xfrm rot="0">
            <a:off x="10769787" y="6307147"/>
            <a:ext cx="6489513" cy="772238"/>
          </a:xfrm>
          <a:prstGeom prst="rect">
            <a:avLst/>
          </a:prstGeom>
        </p:spPr>
        <p:txBody>
          <a:bodyPr anchor="t" rtlCol="false" tIns="0" lIns="0" bIns="0" rIns="0">
            <a:spAutoFit/>
          </a:bodyPr>
          <a:lstStyle/>
          <a:p>
            <a:pPr algn="just" marL="0" indent="0" lvl="0">
              <a:lnSpc>
                <a:spcPts val="2060"/>
              </a:lnSpc>
            </a:pPr>
            <a:r>
              <a:rPr lang="en-US" sz="1471">
                <a:solidFill>
                  <a:srgbClr val="000000"/>
                </a:solidFill>
                <a:latin typeface="Poppins"/>
                <a:ea typeface="Poppins"/>
                <a:cs typeface="Poppins"/>
                <a:sym typeface="Poppins"/>
              </a:rPr>
              <a:t>The system combines course materials, AI assistance, and rubric-based evaluation into a unified workflow. Self-hosted AI architecture ensures data privacy and academic control.</a:t>
            </a:r>
          </a:p>
        </p:txBody>
      </p:sp>
      <p:sp>
        <p:nvSpPr>
          <p:cNvPr name="TextBox 15" id="15"/>
          <p:cNvSpPr txBox="true"/>
          <p:nvPr/>
        </p:nvSpPr>
        <p:spPr>
          <a:xfrm rot="0">
            <a:off x="10769787" y="5979487"/>
            <a:ext cx="4827929" cy="270494"/>
          </a:xfrm>
          <a:prstGeom prst="rect">
            <a:avLst/>
          </a:prstGeom>
        </p:spPr>
        <p:txBody>
          <a:bodyPr anchor="t" rtlCol="false" tIns="0" lIns="0" bIns="0" rIns="0">
            <a:spAutoFit/>
          </a:bodyPr>
          <a:lstStyle/>
          <a:p>
            <a:pPr algn="l" marL="0" indent="0" lvl="0">
              <a:lnSpc>
                <a:spcPts val="1978"/>
              </a:lnSpc>
            </a:pPr>
            <a:r>
              <a:rPr lang="en-US" b="true" sz="1798">
                <a:solidFill>
                  <a:srgbClr val="3E3E3E"/>
                </a:solidFill>
                <a:latin typeface="Poppins Semi-Bold"/>
                <a:ea typeface="Poppins Semi-Bold"/>
                <a:cs typeface="Poppins Semi-Bold"/>
                <a:sym typeface="Poppins Semi-Bold"/>
              </a:rPr>
              <a:t>INTEGRATED ARCHITECTURE</a:t>
            </a:r>
          </a:p>
        </p:txBody>
      </p:sp>
      <p:sp>
        <p:nvSpPr>
          <p:cNvPr name="TextBox 16" id="16"/>
          <p:cNvSpPr txBox="true"/>
          <p:nvPr/>
        </p:nvSpPr>
        <p:spPr>
          <a:xfrm rot="0">
            <a:off x="10769787" y="7373225"/>
            <a:ext cx="6489513" cy="1029413"/>
          </a:xfrm>
          <a:prstGeom prst="rect">
            <a:avLst/>
          </a:prstGeom>
        </p:spPr>
        <p:txBody>
          <a:bodyPr anchor="t" rtlCol="false" tIns="0" lIns="0" bIns="0" rIns="0">
            <a:spAutoFit/>
          </a:bodyPr>
          <a:lstStyle/>
          <a:p>
            <a:pPr algn="just" marL="0" indent="0" lvl="0">
              <a:lnSpc>
                <a:spcPts val="2060"/>
              </a:lnSpc>
            </a:pPr>
            <a:r>
              <a:rPr lang="en-US" sz="1471">
                <a:solidFill>
                  <a:srgbClr val="000000"/>
                </a:solidFill>
                <a:latin typeface="Poppins"/>
                <a:ea typeface="Poppins"/>
                <a:cs typeface="Poppins"/>
                <a:sym typeface="Poppins"/>
              </a:rPr>
              <a:t>Key components include Moodle integration, course materials repository, course-aware chatbot, practice exam generator, AI rubric engine, and feedback mode controller—all working together seamlessly.</a:t>
            </a:r>
          </a:p>
        </p:txBody>
      </p:sp>
      <p:sp>
        <p:nvSpPr>
          <p:cNvPr name="TextBox 17" id="17"/>
          <p:cNvSpPr txBox="true"/>
          <p:nvPr/>
        </p:nvSpPr>
        <p:spPr>
          <a:xfrm rot="0">
            <a:off x="10769787" y="8477403"/>
            <a:ext cx="3758942" cy="518144"/>
          </a:xfrm>
          <a:prstGeom prst="rect">
            <a:avLst/>
          </a:prstGeom>
        </p:spPr>
        <p:txBody>
          <a:bodyPr anchor="t" rtlCol="false" tIns="0" lIns="0" bIns="0" rIns="0">
            <a:spAutoFit/>
          </a:bodyPr>
          <a:lstStyle/>
          <a:p>
            <a:pPr algn="l" marL="0" indent="0" lvl="0">
              <a:lnSpc>
                <a:spcPts val="1978"/>
              </a:lnSpc>
            </a:pPr>
            <a:r>
              <a:rPr lang="en-US" b="true" sz="1798">
                <a:solidFill>
                  <a:srgbClr val="3E3E3E"/>
                </a:solidFill>
                <a:latin typeface="Poppins Semi-Bold"/>
                <a:ea typeface="Poppins Semi-Bold"/>
                <a:cs typeface="Poppins Semi-Bold"/>
                <a:sym typeface="Poppins Semi-Bold"/>
              </a:rPr>
              <a:t>LEARN MORE:</a:t>
            </a:r>
          </a:p>
          <a:p>
            <a:pPr algn="l" marL="0" indent="0" lvl="0">
              <a:lnSpc>
                <a:spcPts val="1978"/>
              </a:lnSpc>
            </a:pPr>
            <a:r>
              <a:rPr lang="en-US" b="true" sz="1798">
                <a:solidFill>
                  <a:srgbClr val="3E3E3E"/>
                </a:solidFill>
                <a:latin typeface="Poppins Semi-Bold"/>
                <a:ea typeface="Poppins Semi-Bold"/>
                <a:cs typeface="Poppins Semi-Bold"/>
                <a:sym typeface="Poppins Semi-Bold"/>
              </a:rPr>
              <a:t>KDBASSISTANT.EDU</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0">
            <a:off x="4636484" y="6742720"/>
            <a:ext cx="13651516" cy="3544280"/>
            <a:chOff x="0" y="0"/>
            <a:chExt cx="18202021" cy="4725707"/>
          </a:xfrm>
        </p:grpSpPr>
        <p:pic>
          <p:nvPicPr>
            <p:cNvPr name="Picture 3" id="3"/>
            <p:cNvPicPr>
              <a:picLocks noChangeAspect="true"/>
            </p:cNvPicPr>
            <p:nvPr/>
          </p:nvPicPr>
          <p:blipFill>
            <a:blip r:embed="rId2"/>
            <a:srcRect l="0" t="27225" r="0" b="27225"/>
            <a:stretch>
              <a:fillRect/>
            </a:stretch>
          </p:blipFill>
          <p:spPr>
            <a:xfrm flipH="false" flipV="false">
              <a:off x="0" y="0"/>
              <a:ext cx="18202021" cy="4725707"/>
            </a:xfrm>
            <a:prstGeom prst="rect">
              <a:avLst/>
            </a:prstGeom>
          </p:spPr>
        </p:pic>
      </p:grpSp>
      <p:grpSp>
        <p:nvGrpSpPr>
          <p:cNvPr name="Group 4" id="4"/>
          <p:cNvGrpSpPr/>
          <p:nvPr/>
        </p:nvGrpSpPr>
        <p:grpSpPr>
          <a:xfrm rot="0">
            <a:off x="12032974" y="1828528"/>
            <a:ext cx="5226326" cy="6123969"/>
            <a:chOff x="0" y="0"/>
            <a:chExt cx="6968435" cy="8165292"/>
          </a:xfrm>
        </p:grpSpPr>
        <p:pic>
          <p:nvPicPr>
            <p:cNvPr name="Picture 5" id="5"/>
            <p:cNvPicPr>
              <a:picLocks noChangeAspect="true"/>
            </p:cNvPicPr>
            <p:nvPr/>
          </p:nvPicPr>
          <p:blipFill>
            <a:blip r:embed="rId3"/>
            <a:srcRect l="0" t="2617" r="0" b="2617"/>
            <a:stretch>
              <a:fillRect/>
            </a:stretch>
          </p:blipFill>
          <p:spPr>
            <a:xfrm flipH="false" flipV="false">
              <a:off x="0" y="0"/>
              <a:ext cx="6968435" cy="8165292"/>
            </a:xfrm>
            <a:prstGeom prst="rect">
              <a:avLst/>
            </a:prstGeom>
          </p:spPr>
        </p:pic>
      </p:grpSp>
      <p:sp>
        <p:nvSpPr>
          <p:cNvPr name="AutoShape 6" id="6"/>
          <p:cNvSpPr/>
          <p:nvPr/>
        </p:nvSpPr>
        <p:spPr>
          <a:xfrm>
            <a:off x="2111175" y="0"/>
            <a:ext cx="0" cy="10287000"/>
          </a:xfrm>
          <a:prstGeom prst="line">
            <a:avLst/>
          </a:prstGeom>
          <a:ln cap="flat" w="19050">
            <a:solidFill>
              <a:srgbClr val="3E3E3E"/>
            </a:solidFill>
            <a:prstDash val="solid"/>
            <a:headEnd type="none" len="sm" w="sm"/>
            <a:tailEnd type="none" len="sm" w="sm"/>
          </a:ln>
        </p:spPr>
      </p:sp>
      <p:sp>
        <p:nvSpPr>
          <p:cNvPr name="Freeform 7" id="7"/>
          <p:cNvSpPr/>
          <p:nvPr/>
        </p:nvSpPr>
        <p:spPr>
          <a:xfrm flipH="false" flipV="false" rot="-2700000">
            <a:off x="3125623" y="8262697"/>
            <a:ext cx="502015" cy="502015"/>
          </a:xfrm>
          <a:custGeom>
            <a:avLst/>
            <a:gdLst/>
            <a:ahLst/>
            <a:cxnLst/>
            <a:rect r="r" b="b" t="t" l="l"/>
            <a:pathLst>
              <a:path h="502015" w="502015">
                <a:moveTo>
                  <a:pt x="0" y="0"/>
                </a:moveTo>
                <a:lnTo>
                  <a:pt x="502015" y="0"/>
                </a:lnTo>
                <a:lnTo>
                  <a:pt x="502015" y="502016"/>
                </a:lnTo>
                <a:lnTo>
                  <a:pt x="0" y="5020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0269049" y="0"/>
            <a:ext cx="2386387" cy="1028700"/>
            <a:chOff x="0" y="0"/>
            <a:chExt cx="628513" cy="270933"/>
          </a:xfrm>
        </p:grpSpPr>
        <p:sp>
          <p:nvSpPr>
            <p:cNvPr name="Freeform 9" id="9"/>
            <p:cNvSpPr/>
            <p:nvPr/>
          </p:nvSpPr>
          <p:spPr>
            <a:xfrm flipH="false" flipV="false" rot="0">
              <a:off x="0" y="0"/>
              <a:ext cx="628513" cy="270933"/>
            </a:xfrm>
            <a:custGeom>
              <a:avLst/>
              <a:gdLst/>
              <a:ahLst/>
              <a:cxnLst/>
              <a:rect r="r" b="b" t="t" l="l"/>
              <a:pathLst>
                <a:path h="270933" w="628513">
                  <a:moveTo>
                    <a:pt x="0" y="0"/>
                  </a:moveTo>
                  <a:lnTo>
                    <a:pt x="628513" y="0"/>
                  </a:lnTo>
                  <a:lnTo>
                    <a:pt x="628513" y="270933"/>
                  </a:lnTo>
                  <a:lnTo>
                    <a:pt x="0" y="270933"/>
                  </a:lnTo>
                  <a:close/>
                </a:path>
              </a:pathLst>
            </a:custGeom>
            <a:solidFill>
              <a:srgbClr val="FEFEFE"/>
            </a:solidFill>
          </p:spPr>
        </p:sp>
        <p:sp>
          <p:nvSpPr>
            <p:cNvPr name="TextBox 10" id="10"/>
            <p:cNvSpPr txBox="true"/>
            <p:nvPr/>
          </p:nvSpPr>
          <p:spPr>
            <a:xfrm>
              <a:off x="0" y="-9525"/>
              <a:ext cx="628513" cy="280458"/>
            </a:xfrm>
            <a:prstGeom prst="rect">
              <a:avLst/>
            </a:prstGeom>
          </p:spPr>
          <p:txBody>
            <a:bodyPr anchor="ctr" rtlCol="false" tIns="50800" lIns="50800" bIns="50800" rIns="50800"/>
            <a:lstStyle/>
            <a:p>
              <a:pPr algn="ctr" marL="0" indent="0" lvl="0">
                <a:lnSpc>
                  <a:spcPts val="1524"/>
                </a:lnSpc>
              </a:pPr>
            </a:p>
          </p:txBody>
        </p:sp>
      </p:grpSp>
      <p:sp>
        <p:nvSpPr>
          <p:cNvPr name="Freeform 11" id="11"/>
          <p:cNvSpPr/>
          <p:nvPr/>
        </p:nvSpPr>
        <p:spPr>
          <a:xfrm flipH="false" flipV="false" rot="0">
            <a:off x="7543339" y="1438214"/>
            <a:ext cx="582302" cy="239937"/>
          </a:xfrm>
          <a:custGeom>
            <a:avLst/>
            <a:gdLst/>
            <a:ahLst/>
            <a:cxnLst/>
            <a:rect r="r" b="b" t="t" l="l"/>
            <a:pathLst>
              <a:path h="239937" w="582302">
                <a:moveTo>
                  <a:pt x="0" y="0"/>
                </a:moveTo>
                <a:lnTo>
                  <a:pt x="582303" y="0"/>
                </a:lnTo>
                <a:lnTo>
                  <a:pt x="582303" y="239937"/>
                </a:lnTo>
                <a:lnTo>
                  <a:pt x="0" y="239937"/>
                </a:lnTo>
                <a:lnTo>
                  <a:pt x="0" y="0"/>
                </a:lnTo>
                <a:close/>
              </a:path>
            </a:pathLst>
          </a:custGeom>
          <a:blipFill>
            <a:blip r:embed="rId6">
              <a:extLst>
                <a:ext uri="{96DAC541-7B7A-43D3-8B79-37D633B846F1}">
                  <asvg:svgBlip xmlns:asvg="http://schemas.microsoft.com/office/drawing/2016/SVG/main" r:embed="rId7"/>
                </a:ext>
              </a:extLst>
            </a:blip>
            <a:stretch>
              <a:fillRect l="0" t="0" r="-116511" b="-425452"/>
            </a:stretch>
          </a:blipFill>
        </p:spPr>
      </p:sp>
      <p:sp>
        <p:nvSpPr>
          <p:cNvPr name="TextBox 12" id="12"/>
          <p:cNvSpPr txBox="true"/>
          <p:nvPr/>
        </p:nvSpPr>
        <p:spPr>
          <a:xfrm rot="0">
            <a:off x="3187465" y="1530078"/>
            <a:ext cx="2415122" cy="587375"/>
          </a:xfrm>
          <a:prstGeom prst="rect">
            <a:avLst/>
          </a:prstGeom>
        </p:spPr>
        <p:txBody>
          <a:bodyPr anchor="t" rtlCol="false" tIns="0" lIns="0" bIns="0" rIns="0">
            <a:spAutoFit/>
          </a:bodyPr>
          <a:lstStyle/>
          <a:p>
            <a:pPr algn="l" marL="0" indent="0" lvl="0">
              <a:lnSpc>
                <a:spcPts val="2200"/>
              </a:lnSpc>
            </a:pPr>
            <a:r>
              <a:rPr lang="en-US" b="true" sz="2000">
                <a:solidFill>
                  <a:srgbClr val="3E3E3E"/>
                </a:solidFill>
                <a:latin typeface="Poppins Semi-Bold"/>
                <a:ea typeface="Poppins Semi-Bold"/>
                <a:cs typeface="Poppins Semi-Bold"/>
                <a:sym typeface="Poppins Semi-Bold"/>
              </a:rPr>
              <a:t>COURSE-AWARE ACADEMIC AI</a:t>
            </a:r>
          </a:p>
        </p:txBody>
      </p:sp>
      <p:sp>
        <p:nvSpPr>
          <p:cNvPr name="TextBox 13" id="13"/>
          <p:cNvSpPr txBox="true"/>
          <p:nvPr/>
        </p:nvSpPr>
        <p:spPr>
          <a:xfrm rot="0">
            <a:off x="3187465" y="2884527"/>
            <a:ext cx="8274777" cy="1425574"/>
          </a:xfrm>
          <a:prstGeom prst="rect">
            <a:avLst/>
          </a:prstGeom>
        </p:spPr>
        <p:txBody>
          <a:bodyPr anchor="t" rtlCol="false" tIns="0" lIns="0" bIns="0" rIns="0">
            <a:spAutoFit/>
          </a:bodyPr>
          <a:lstStyle/>
          <a:p>
            <a:pPr algn="l" marL="0" indent="0" lvl="0">
              <a:lnSpc>
                <a:spcPts val="9999"/>
              </a:lnSpc>
            </a:pPr>
            <a:r>
              <a:rPr lang="en-US" b="true" sz="9999">
                <a:solidFill>
                  <a:srgbClr val="834630"/>
                </a:solidFill>
                <a:latin typeface="Poppins Bold"/>
                <a:ea typeface="Poppins Bold"/>
                <a:cs typeface="Poppins Bold"/>
                <a:sym typeface="Poppins Bold"/>
              </a:rPr>
              <a:t>THANK YOU</a:t>
            </a:r>
          </a:p>
        </p:txBody>
      </p:sp>
      <p:sp>
        <p:nvSpPr>
          <p:cNvPr name="TextBox 14" id="14"/>
          <p:cNvSpPr txBox="true"/>
          <p:nvPr/>
        </p:nvSpPr>
        <p:spPr>
          <a:xfrm rot="0">
            <a:off x="3187465" y="5615026"/>
            <a:ext cx="7470661" cy="587375"/>
          </a:xfrm>
          <a:prstGeom prst="rect">
            <a:avLst/>
          </a:prstGeom>
        </p:spPr>
        <p:txBody>
          <a:bodyPr anchor="t" rtlCol="false" tIns="0" lIns="0" bIns="0" rIns="0">
            <a:spAutoFit/>
          </a:bodyPr>
          <a:lstStyle/>
          <a:p>
            <a:pPr algn="l" marL="0" indent="0" lvl="0">
              <a:lnSpc>
                <a:spcPts val="2200"/>
              </a:lnSpc>
            </a:pPr>
            <a:r>
              <a:rPr lang="en-US" b="true" sz="2000" spc="90">
                <a:solidFill>
                  <a:srgbClr val="3E3E3E"/>
                </a:solidFill>
                <a:latin typeface="Poppins Semi-Bold"/>
                <a:ea typeface="Poppins Semi-Bold"/>
                <a:cs typeface="Poppins Semi-Bold"/>
                <a:sym typeface="Poppins Semi-Bold"/>
              </a:rPr>
              <a:t>SMARTER LEARNING • TARGETED PREPARATION • STRUCTURED AI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DAHG3TT880Y</dc:identifier>
  <dcterms:modified xsi:type="dcterms:W3CDTF">2011-08-01T06:04:30Z</dcterms:modified>
  <cp:revision>1</cp:revision>
  <dc:title>KDB Assistant: Course-Aware AI Tutor</dc:title>
</cp:coreProperties>
</file>